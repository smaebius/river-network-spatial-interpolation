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0" r:id="rId2"/>
    <p:sldId id="293" r:id="rId3"/>
    <p:sldId id="291" r:id="rId4"/>
    <p:sldId id="270" r:id="rId5"/>
    <p:sldId id="278" r:id="rId6"/>
    <p:sldId id="281" r:id="rId7"/>
    <p:sldId id="282" r:id="rId8"/>
    <p:sldId id="275" r:id="rId9"/>
    <p:sldId id="276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E9F3"/>
    <a:srgbClr val="FFFF66"/>
    <a:srgbClr val="D8AFC6"/>
    <a:srgbClr val="999999"/>
    <a:srgbClr val="FFFFFF"/>
    <a:srgbClr val="72C1AC"/>
    <a:srgbClr val="E6C272"/>
    <a:srgbClr val="E9C57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97F9F-C1C9-4492-A097-36E19E864A86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56FAC-44B4-4B10-BED0-DD171048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3045-4C6B-6CBA-D821-1D63CDE10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C3F64-90DF-C7A8-99A3-4D3E7CA0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8D179-D8CE-66D8-2887-00CB2FCC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93E4F-8834-F065-1E46-F4224F2A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7F80-77FB-976F-A68A-8D37B64C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0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77DD-7EEF-C6FC-1855-C3F0D636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F2CF8-F6BD-452C-8F4A-8A90E2604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9CB2-4873-74D8-C09D-78347192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37737-0DB4-27DE-8F59-4EADC2C6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07344-2E69-B41A-AFF4-C5446AA6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9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33A0-D89E-9BA4-5CFF-1E2CE85C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C5B64-78FE-3D83-BB80-CA0B6C03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8132-0C0F-0E3B-2F07-A56EAC6F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DA9A-0D32-1A13-E815-45835977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1846F-5EA3-D810-178F-589BDFF6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1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5750-C96D-8D29-BA18-440DF597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F4E98-4ACF-1A86-77F0-91E615EE5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52D39-6192-5D38-5EFD-38464C8E9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4E1E1-4CB5-3CF0-EDB5-0D8C9A9B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597C4-4113-3C26-1B64-BF9EC6C5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60A0E-C90C-8764-7471-D8DC6EBD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2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CAF7-68A0-A38C-0305-B77F66AE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2BBDF-FAAE-1C29-792D-4985D674F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8A640-5A94-9350-B63E-95D5F3EEE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FB48EB-F99E-007C-E3E9-B78823446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A9D71-B7FE-AD19-BE4B-9C8D17F63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32D4A-D9D8-AB09-4D01-13CD3E75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B0F0EA-C1A6-121C-2003-E255FE50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C8A21-49FB-2B47-BA94-82F71085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3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CF4D-3376-405B-B92B-EF829F58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E0DE9-7243-A9E1-0F9B-C496D781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8D853-6F0A-6D75-EA07-B4DD7AA6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718A2-B8CC-711E-0BEE-9FDC0220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7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922D3-D4AB-74A3-EE6F-6562374B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82062-8DEB-194C-E274-3CC5B0C2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A52CA-B904-D089-4E4E-BAEBC836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1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4CA9-50B1-ADBB-F1AD-B2414FA4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9132-1676-9849-2637-8737307D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55E97-D48C-78E1-EAFB-CC096EEEB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47618-9066-E115-31DF-CA43A0A5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E38A0-799C-0D40-E45C-6BD0E386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8655-8511-101A-3857-F6A0CDEB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02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71C8-C472-5397-6BC7-F105BA53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9C68B-F673-DBDD-683D-E0D3615D4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D032A-4C89-4050-A01A-444EDED86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558D9-EDFE-D327-0C3D-29B2500C4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25F1C-B02E-6F2D-2917-2EBAFB7E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8605B-B125-C6A4-7B78-AC17858E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4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BCD1-7F91-0AF3-A785-48069878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9C1F-BA34-63FE-1603-99FC7E6FC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919A-7F22-133E-C117-E6F30368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B566B-F056-6577-1511-86A7D63A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E084-B7CC-E625-9985-82475676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1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89D48-CD75-3473-1547-7D3D7D4F0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B261E-EB9D-7DE3-4498-BF7681AD8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6E9C0-3D50-06AB-EF47-180FC9E1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89F7C-31D6-964D-8EBD-DF74DA29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4D9F2-4A5B-AB4D-A45D-E9BA45E3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1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04093-D3C3-FAD4-2B6D-4BD64EF7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D2E3E-1C07-957C-2A76-C623CBAAA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A35F-A253-C24F-E634-8FADDE172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0A70A-78C2-47E4-9D71-195E2AD7DED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5F9E3-183A-9980-6545-4E4AC41D1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15726-DB21-FCBF-C22D-0B50A7556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1F6D0-BC00-43F0-8524-003D7EDFA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5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4634-1BB9-7A0C-56AD-074F9234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CB3BA89-857A-D8C9-F2F7-8E2428825272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9DC09-3A8F-914C-A4DE-88BE5A53B213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직사각형 7">
            <a:extLst>
              <a:ext uri="{FF2B5EF4-FFF2-40B4-BE49-F238E27FC236}">
                <a16:creationId xmlns:a16="http://schemas.microsoft.com/office/drawing/2014/main" id="{6FFA1B95-D932-B1EA-8BBF-95ED3A510312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We consider 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9,023 </a:t>
            </a:r>
            <a:r>
              <a:rPr lang="en-US" altLang="ko-KR" sz="2000" kern="0" dirty="0" err="1">
                <a:solidFill>
                  <a:prstClr val="black"/>
                </a:solidFill>
                <a:latin typeface="Calibri" panose="020F0502020204030204"/>
              </a:rPr>
              <a:t>streamgauges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 with at least 30 years of observations available.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" name="직사각형 7">
            <a:extLst>
              <a:ext uri="{FF2B5EF4-FFF2-40B4-BE49-F238E27FC236}">
                <a16:creationId xmlns:a16="http://schemas.microsoft.com/office/drawing/2014/main" id="{8FA309B2-EAA8-B3E4-1F75-2CB5F475C83B}"/>
              </a:ext>
            </a:extLst>
          </p:cNvPr>
          <p:cNvSpPr/>
          <p:nvPr/>
        </p:nvSpPr>
        <p:spPr>
          <a:xfrm>
            <a:off x="238540" y="1027713"/>
            <a:ext cx="3673060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alibri" panose="020F0502020204030204"/>
              </a:rPr>
              <a:t>Streamflow database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</a:rPr>
              <a:t>USGS (CONUS): 4,596 basins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</a:rPr>
              <a:t>ADHI (Africa): 362 basins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</a:rPr>
              <a:t>HRS (Australia): 467 basins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</a:rPr>
              <a:t>GSIM (Others): 3,598 basins</a:t>
            </a:r>
          </a:p>
        </p:txBody>
      </p:sp>
      <p:sp>
        <p:nvSpPr>
          <p:cNvPr id="6" name="직사각형 7">
            <a:extLst>
              <a:ext uri="{FF2B5EF4-FFF2-40B4-BE49-F238E27FC236}">
                <a16:creationId xmlns:a16="http://schemas.microsoft.com/office/drawing/2014/main" id="{A1A8D84D-29AB-E018-7AA6-A7CAD3A7F107}"/>
              </a:ext>
            </a:extLst>
          </p:cNvPr>
          <p:cNvSpPr/>
          <p:nvPr/>
        </p:nvSpPr>
        <p:spPr>
          <a:xfrm>
            <a:off x="3404679" y="4812057"/>
            <a:ext cx="4279673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black"/>
                </a:solidFill>
                <a:latin typeface="Calibri" panose="020F0502020204030204"/>
              </a:rPr>
              <a:t>Climate type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alibri" panose="020F0502020204030204"/>
              </a:rPr>
              <a:t>   Tropical		Temperate		Polar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alibri" panose="020F0502020204030204"/>
              </a:rPr>
              <a:t>   Arid		Cold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C5298F-9E75-F215-B55E-724CF1E490A3}"/>
              </a:ext>
            </a:extLst>
          </p:cNvPr>
          <p:cNvSpPr/>
          <p:nvPr/>
        </p:nvSpPr>
        <p:spPr>
          <a:xfrm>
            <a:off x="3405915" y="5236626"/>
            <a:ext cx="134470" cy="116541"/>
          </a:xfrm>
          <a:prstGeom prst="rect">
            <a:avLst/>
          </a:prstGeom>
          <a:solidFill>
            <a:srgbClr val="D8A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BBBBB-AEF6-23D7-A675-247EA07D22CF}"/>
              </a:ext>
            </a:extLst>
          </p:cNvPr>
          <p:cNvSpPr/>
          <p:nvPr/>
        </p:nvSpPr>
        <p:spPr>
          <a:xfrm>
            <a:off x="3405915" y="5496841"/>
            <a:ext cx="134470" cy="116541"/>
          </a:xfrm>
          <a:prstGeom prst="rect">
            <a:avLst/>
          </a:prstGeom>
          <a:solidFill>
            <a:srgbClr val="E6C2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7568A3-DC5E-3F56-9C4D-62F4AFE56E1A}"/>
              </a:ext>
            </a:extLst>
          </p:cNvPr>
          <p:cNvSpPr/>
          <p:nvPr/>
        </p:nvSpPr>
        <p:spPr>
          <a:xfrm>
            <a:off x="5100244" y="5236625"/>
            <a:ext cx="134470" cy="116541"/>
          </a:xfrm>
          <a:prstGeom prst="rect">
            <a:avLst/>
          </a:prstGeom>
          <a:solidFill>
            <a:srgbClr val="72C1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A894C0-9990-6CF4-480A-E5166D0F9F3A}"/>
              </a:ext>
            </a:extLst>
          </p:cNvPr>
          <p:cNvSpPr/>
          <p:nvPr/>
        </p:nvSpPr>
        <p:spPr>
          <a:xfrm>
            <a:off x="5100244" y="5496839"/>
            <a:ext cx="134470" cy="116541"/>
          </a:xfrm>
          <a:prstGeom prst="rect">
            <a:avLst/>
          </a:prstGeom>
          <a:solidFill>
            <a:srgbClr val="C9E9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45B3E-76AE-8CBC-B54E-E9D3C3D67B07}"/>
              </a:ext>
            </a:extLst>
          </p:cNvPr>
          <p:cNvSpPr/>
          <p:nvPr/>
        </p:nvSpPr>
        <p:spPr>
          <a:xfrm>
            <a:off x="6930279" y="5236624"/>
            <a:ext cx="134470" cy="116541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map of the world&#10;&#10;AI-generated content may be incorrect.">
            <a:extLst>
              <a:ext uri="{FF2B5EF4-FFF2-40B4-BE49-F238E27FC236}">
                <a16:creationId xmlns:a16="http://schemas.microsoft.com/office/drawing/2014/main" id="{354CD835-5623-1862-6323-64127E763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" r="1847"/>
          <a:stretch>
            <a:fillRect/>
          </a:stretch>
        </p:blipFill>
        <p:spPr>
          <a:xfrm>
            <a:off x="3404679" y="1151211"/>
            <a:ext cx="8736379" cy="3784344"/>
          </a:xfrm>
          <a:prstGeom prst="rect">
            <a:avLst/>
          </a:prstGeom>
        </p:spPr>
      </p:pic>
      <p:sp>
        <p:nvSpPr>
          <p:cNvPr id="3" name="직사각형 7">
            <a:extLst>
              <a:ext uri="{FF2B5EF4-FFF2-40B4-BE49-F238E27FC236}">
                <a16:creationId xmlns:a16="http://schemas.microsoft.com/office/drawing/2014/main" id="{346CB50A-4DE0-5453-D57B-9B4B3EF1E028}"/>
              </a:ext>
            </a:extLst>
          </p:cNvPr>
          <p:cNvSpPr/>
          <p:nvPr/>
        </p:nvSpPr>
        <p:spPr>
          <a:xfrm>
            <a:off x="9963150" y="6912"/>
            <a:ext cx="2196958" cy="257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FloodMagnitude_v1.4/01_Covariate_selection/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8415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30EC6-4D49-E521-0EF6-5BCBFA3D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A466651-5CAF-2E88-D4DD-F6C5E6049EAC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5E226D-BC02-5515-21A6-C14732433E58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직사각형 7">
            <a:extLst>
              <a:ext uri="{FF2B5EF4-FFF2-40B4-BE49-F238E27FC236}">
                <a16:creationId xmlns:a16="http://schemas.microsoft.com/office/drawing/2014/main" id="{DAE2CD67-5525-C234-5AC9-48E584A23FA1}"/>
              </a:ext>
            </a:extLst>
          </p:cNvPr>
          <p:cNvSpPr/>
          <p:nvPr/>
        </p:nvSpPr>
        <p:spPr>
          <a:xfrm>
            <a:off x="0" y="457523"/>
            <a:ext cx="12192000" cy="707886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We consider a local water year that starts in the season with the lowest median of seasonal maxima among the four seasons.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34AE176-990B-352A-4EE1-85E41AAB4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880977"/>
              </p:ext>
            </p:extLst>
          </p:nvPr>
        </p:nvGraphicFramePr>
        <p:xfrm>
          <a:off x="335086" y="1959380"/>
          <a:ext cx="5486397" cy="396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7">
                  <a:extLst>
                    <a:ext uri="{9D8B030D-6E8A-4147-A177-3AD203B41FA5}">
                      <a16:colId xmlns:a16="http://schemas.microsoft.com/office/drawing/2014/main" val="33681796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430339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82984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96996840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775928239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788353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614244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089165873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22484131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189281588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823367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9531741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3345462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74903176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12924501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19651779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39649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54838045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66942106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39345484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16392022"/>
                    </a:ext>
                  </a:extLst>
                </a:gridCol>
              </a:tblGrid>
              <a:tr h="39695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57933"/>
                  </a:ext>
                </a:extLst>
              </a:tr>
            </a:tbl>
          </a:graphicData>
        </a:graphic>
      </p:graphicFrame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01D080-D518-669F-4A9B-55E8CC1DBC2F}"/>
              </a:ext>
            </a:extLst>
          </p:cNvPr>
          <p:cNvCxnSpPr>
            <a:cxnSpLocks/>
          </p:cNvCxnSpPr>
          <p:nvPr/>
        </p:nvCxnSpPr>
        <p:spPr>
          <a:xfrm>
            <a:off x="2158254" y="1863968"/>
            <a:ext cx="31347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C3015A-9212-0468-80C6-29344C099F15}"/>
              </a:ext>
            </a:extLst>
          </p:cNvPr>
          <p:cNvCxnSpPr/>
          <p:nvPr/>
        </p:nvCxnSpPr>
        <p:spPr>
          <a:xfrm flipV="1">
            <a:off x="2149459" y="1589740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93446C-81A6-A47B-CBDB-E2EF1CB09439}"/>
              </a:ext>
            </a:extLst>
          </p:cNvPr>
          <p:cNvCxnSpPr/>
          <p:nvPr/>
        </p:nvCxnSpPr>
        <p:spPr>
          <a:xfrm flipV="1">
            <a:off x="5292971" y="1576081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32B5FF-4E65-586E-6918-AF7F64134046}"/>
              </a:ext>
            </a:extLst>
          </p:cNvPr>
          <p:cNvSpPr txBox="1"/>
          <p:nvPr/>
        </p:nvSpPr>
        <p:spPr>
          <a:xfrm>
            <a:off x="2641707" y="1525260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Calander year: 2000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4D2C4E2-DDC0-8321-FB69-C8923028508C}"/>
              </a:ext>
            </a:extLst>
          </p:cNvPr>
          <p:cNvCxnSpPr>
            <a:cxnSpLocks/>
          </p:cNvCxnSpPr>
          <p:nvPr/>
        </p:nvCxnSpPr>
        <p:spPr>
          <a:xfrm flipV="1">
            <a:off x="346808" y="1957081"/>
            <a:ext cx="0" cy="768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AC641E-56C8-3784-E14C-93E43E07A822}"/>
              </a:ext>
            </a:extLst>
          </p:cNvPr>
          <p:cNvCxnSpPr>
            <a:cxnSpLocks/>
          </p:cNvCxnSpPr>
          <p:nvPr/>
        </p:nvCxnSpPr>
        <p:spPr>
          <a:xfrm flipV="1">
            <a:off x="3462098" y="1957081"/>
            <a:ext cx="0" cy="7665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62CE081-6E18-2059-6FC5-63FAF43F0B11}"/>
              </a:ext>
            </a:extLst>
          </p:cNvPr>
          <p:cNvCxnSpPr>
            <a:cxnSpLocks/>
          </p:cNvCxnSpPr>
          <p:nvPr/>
        </p:nvCxnSpPr>
        <p:spPr>
          <a:xfrm>
            <a:off x="354623" y="2535114"/>
            <a:ext cx="305871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2B28BE6-6EA0-FC0F-4025-204C6B8AE3B9}"/>
              </a:ext>
            </a:extLst>
          </p:cNvPr>
          <p:cNvSpPr txBox="1"/>
          <p:nvPr/>
        </p:nvSpPr>
        <p:spPr>
          <a:xfrm>
            <a:off x="784604" y="2560003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year: 2000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A6810A3-A042-EA8B-151D-8C8DDF9D7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941574"/>
              </p:ext>
            </p:extLst>
          </p:nvPr>
        </p:nvGraphicFramePr>
        <p:xfrm>
          <a:off x="354623" y="3663064"/>
          <a:ext cx="5486397" cy="396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7">
                  <a:extLst>
                    <a:ext uri="{9D8B030D-6E8A-4147-A177-3AD203B41FA5}">
                      <a16:colId xmlns:a16="http://schemas.microsoft.com/office/drawing/2014/main" val="33681796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430339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82984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96996840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775928239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788353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614244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089165873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22484131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189281588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823367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9531741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3345462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74903176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12924501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19651779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39649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54838045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66942106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39345484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16392022"/>
                    </a:ext>
                  </a:extLst>
                </a:gridCol>
              </a:tblGrid>
              <a:tr h="39695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57933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0F2D1125-5308-7232-55AF-C5DCD2C0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383994"/>
              </p:ext>
            </p:extLst>
          </p:nvPr>
        </p:nvGraphicFramePr>
        <p:xfrm>
          <a:off x="354623" y="5766694"/>
          <a:ext cx="5486397" cy="396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57">
                  <a:extLst>
                    <a:ext uri="{9D8B030D-6E8A-4147-A177-3AD203B41FA5}">
                      <a16:colId xmlns:a16="http://schemas.microsoft.com/office/drawing/2014/main" val="33681796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4303392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282984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96996840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775928239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788353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6142442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089165873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22484131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189281588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823367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9531741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33454621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749031766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12924501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196517797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39649612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2954838045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669421068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3393454844"/>
                    </a:ext>
                  </a:extLst>
                </a:gridCol>
                <a:gridCol w="261257">
                  <a:extLst>
                    <a:ext uri="{9D8B030D-6E8A-4147-A177-3AD203B41FA5}">
                      <a16:colId xmlns:a16="http://schemas.microsoft.com/office/drawing/2014/main" val="4016392022"/>
                    </a:ext>
                  </a:extLst>
                </a:gridCol>
              </a:tblGrid>
              <a:tr h="39695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C9E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57933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17761299-E692-9AC3-B72A-ED9D35F173A6}"/>
              </a:ext>
            </a:extLst>
          </p:cNvPr>
          <p:cNvSpPr txBox="1"/>
          <p:nvPr/>
        </p:nvSpPr>
        <p:spPr>
          <a:xfrm>
            <a:off x="180894" y="1204465"/>
            <a:ext cx="3591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e.g.) Driest season: Jun-Aug (JJA)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3D1B31-7401-FFF9-AFEA-8147807838F9}"/>
              </a:ext>
            </a:extLst>
          </p:cNvPr>
          <p:cNvSpPr txBox="1"/>
          <p:nvPr/>
        </p:nvSpPr>
        <p:spPr>
          <a:xfrm>
            <a:off x="180894" y="2984148"/>
            <a:ext cx="318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e.g.) Driest season: Sep-Nov (SON)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BA15C7-16C0-DFDD-3B9C-9CBFACA3C2C6}"/>
              </a:ext>
            </a:extLst>
          </p:cNvPr>
          <p:cNvSpPr txBox="1"/>
          <p:nvPr/>
        </p:nvSpPr>
        <p:spPr>
          <a:xfrm>
            <a:off x="230456" y="5060960"/>
            <a:ext cx="3648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e.g.) Driest season: Mar-May (MAM)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0570E1-5FAC-F063-FDDD-8978BEA232BB}"/>
              </a:ext>
            </a:extLst>
          </p:cNvPr>
          <p:cNvSpPr txBox="1"/>
          <p:nvPr/>
        </p:nvSpPr>
        <p:spPr>
          <a:xfrm>
            <a:off x="230457" y="4658818"/>
            <a:ext cx="318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D5A794-89BD-5351-6239-5240DABF3B7B}"/>
              </a:ext>
            </a:extLst>
          </p:cNvPr>
          <p:cNvCxnSpPr>
            <a:cxnSpLocks/>
          </p:cNvCxnSpPr>
          <p:nvPr/>
        </p:nvCxnSpPr>
        <p:spPr>
          <a:xfrm>
            <a:off x="2182046" y="3550051"/>
            <a:ext cx="31347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AFA053-4558-A2CE-4C5A-FD993DF8271D}"/>
              </a:ext>
            </a:extLst>
          </p:cNvPr>
          <p:cNvCxnSpPr/>
          <p:nvPr/>
        </p:nvCxnSpPr>
        <p:spPr>
          <a:xfrm flipV="1">
            <a:off x="2173251" y="3275823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17D011-6475-CCE4-F064-45181E9A8190}"/>
              </a:ext>
            </a:extLst>
          </p:cNvPr>
          <p:cNvCxnSpPr/>
          <p:nvPr/>
        </p:nvCxnSpPr>
        <p:spPr>
          <a:xfrm flipV="1">
            <a:off x="5316763" y="3262164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CB57B0-3A56-B526-D2A3-561D4EAB6059}"/>
              </a:ext>
            </a:extLst>
          </p:cNvPr>
          <p:cNvSpPr txBox="1"/>
          <p:nvPr/>
        </p:nvSpPr>
        <p:spPr>
          <a:xfrm>
            <a:off x="2665499" y="3211343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Calander year: 2000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DED277-0785-BB04-746E-01CC2F3F3AB6}"/>
              </a:ext>
            </a:extLst>
          </p:cNvPr>
          <p:cNvCxnSpPr>
            <a:cxnSpLocks/>
          </p:cNvCxnSpPr>
          <p:nvPr/>
        </p:nvCxnSpPr>
        <p:spPr>
          <a:xfrm>
            <a:off x="2182046" y="5647921"/>
            <a:ext cx="313471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F5C6D7-1907-41C1-FD9C-FE2B068A03EC}"/>
              </a:ext>
            </a:extLst>
          </p:cNvPr>
          <p:cNvCxnSpPr/>
          <p:nvPr/>
        </p:nvCxnSpPr>
        <p:spPr>
          <a:xfrm flipV="1">
            <a:off x="2173251" y="5373693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C1FAE1-32AA-06C8-6558-3C721AE035E1}"/>
              </a:ext>
            </a:extLst>
          </p:cNvPr>
          <p:cNvCxnSpPr/>
          <p:nvPr/>
        </p:nvCxnSpPr>
        <p:spPr>
          <a:xfrm flipV="1">
            <a:off x="5316763" y="5360034"/>
            <a:ext cx="0" cy="7665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768E8D-7987-23AC-2B1B-4D75763DE24A}"/>
              </a:ext>
            </a:extLst>
          </p:cNvPr>
          <p:cNvSpPr txBox="1"/>
          <p:nvPr/>
        </p:nvSpPr>
        <p:spPr>
          <a:xfrm>
            <a:off x="2665499" y="5309213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Calander year: 2000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EA2857-1216-F7BC-5E57-A2C2451721CC}"/>
              </a:ext>
            </a:extLst>
          </p:cNvPr>
          <p:cNvCxnSpPr>
            <a:cxnSpLocks/>
          </p:cNvCxnSpPr>
          <p:nvPr/>
        </p:nvCxnSpPr>
        <p:spPr>
          <a:xfrm flipV="1">
            <a:off x="1126737" y="3678304"/>
            <a:ext cx="0" cy="768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B760F7-A435-2228-D09A-B044FCC707D0}"/>
              </a:ext>
            </a:extLst>
          </p:cNvPr>
          <p:cNvCxnSpPr>
            <a:cxnSpLocks/>
          </p:cNvCxnSpPr>
          <p:nvPr/>
        </p:nvCxnSpPr>
        <p:spPr>
          <a:xfrm flipV="1">
            <a:off x="4242027" y="3678304"/>
            <a:ext cx="0" cy="7665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8FA9B9-0FCB-EC7D-5796-5E1BEDEA7EB7}"/>
              </a:ext>
            </a:extLst>
          </p:cNvPr>
          <p:cNvCxnSpPr>
            <a:cxnSpLocks/>
          </p:cNvCxnSpPr>
          <p:nvPr/>
        </p:nvCxnSpPr>
        <p:spPr>
          <a:xfrm>
            <a:off x="1134552" y="4256337"/>
            <a:ext cx="305871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4B779A-3323-EB1E-EBFE-B7E3D5ECBFA8}"/>
              </a:ext>
            </a:extLst>
          </p:cNvPr>
          <p:cNvSpPr txBox="1"/>
          <p:nvPr/>
        </p:nvSpPr>
        <p:spPr>
          <a:xfrm>
            <a:off x="1564533" y="4281226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year: 2000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D5B5A2-D5FE-0BA3-89FE-AF54AF65658C}"/>
              </a:ext>
            </a:extLst>
          </p:cNvPr>
          <p:cNvCxnSpPr>
            <a:cxnSpLocks/>
          </p:cNvCxnSpPr>
          <p:nvPr/>
        </p:nvCxnSpPr>
        <p:spPr>
          <a:xfrm flipV="1">
            <a:off x="2722455" y="5776046"/>
            <a:ext cx="0" cy="7680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A5D273-3C0B-4C50-E3CD-806775DD8AD7}"/>
              </a:ext>
            </a:extLst>
          </p:cNvPr>
          <p:cNvCxnSpPr>
            <a:cxnSpLocks/>
          </p:cNvCxnSpPr>
          <p:nvPr/>
        </p:nvCxnSpPr>
        <p:spPr>
          <a:xfrm flipV="1">
            <a:off x="5837745" y="5776046"/>
            <a:ext cx="0" cy="7665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7F8D3C-30E4-F1B4-A621-4EB020DDB3DD}"/>
              </a:ext>
            </a:extLst>
          </p:cNvPr>
          <p:cNvCxnSpPr>
            <a:cxnSpLocks/>
          </p:cNvCxnSpPr>
          <p:nvPr/>
        </p:nvCxnSpPr>
        <p:spPr>
          <a:xfrm>
            <a:off x="2730270" y="6354079"/>
            <a:ext cx="305871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142414-C84C-5844-A6FF-91C5E0195E49}"/>
              </a:ext>
            </a:extLst>
          </p:cNvPr>
          <p:cNvSpPr txBox="1"/>
          <p:nvPr/>
        </p:nvSpPr>
        <p:spPr>
          <a:xfrm>
            <a:off x="3160251" y="6378968"/>
            <a:ext cx="2212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year: 2000</a:t>
            </a:r>
          </a:p>
        </p:txBody>
      </p:sp>
      <p:pic>
        <p:nvPicPr>
          <p:cNvPr id="23" name="Picture 22" descr="A map of the world&#10;&#10;AI-generated content may be incorrect.">
            <a:extLst>
              <a:ext uri="{FF2B5EF4-FFF2-40B4-BE49-F238E27FC236}">
                <a16:creationId xmlns:a16="http://schemas.microsoft.com/office/drawing/2014/main" id="{7B98399B-FED2-CFAA-4E61-A663D3E9F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83" y="1204465"/>
            <a:ext cx="4428582" cy="553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F22B-D589-F204-E0DA-30B08855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BBB9CAD-63C0-1210-05A7-D9EEAC95C448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A3BD7-9A44-91F7-C743-A3134E193001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직사각형 7">
            <a:extLst>
              <a:ext uri="{FF2B5EF4-FFF2-40B4-BE49-F238E27FC236}">
                <a16:creationId xmlns:a16="http://schemas.microsoft.com/office/drawing/2014/main" id="{4342D6DF-C48C-29ED-E2EF-5992418EE5E0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We 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employ the skill score (</a:t>
            </a:r>
            <a:r>
              <a:rPr lang="en-US" altLang="ko-KR" sz="2000" i="1" kern="0" dirty="0">
                <a:solidFill>
                  <a:prstClr val="black"/>
                </a:solidFill>
                <a:latin typeface="Calibri" panose="020F0502020204030204"/>
              </a:rPr>
              <a:t>SS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) decomposing it into potential skill and bias to evaluate the model performance.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29722D-ABA0-6A66-0115-BCB1B553B74E}"/>
                  </a:ext>
                </a:extLst>
              </p:cNvPr>
              <p:cNvSpPr txBox="1"/>
              <p:nvPr/>
            </p:nvSpPr>
            <p:spPr>
              <a:xfrm>
                <a:off x="5748603" y="1989054"/>
                <a:ext cx="6210483" cy="9028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E2383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E2383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E2383E"/>
                              </a:solidFill>
                              <a:latin typeface="Cambria Math" panose="02040503050406030204" pitchFamily="18" charset="0"/>
                            </a:rPr>
                            <m:t>𝐹𝑋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E2383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rgbClr val="E2383E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4241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42419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42419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42419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42419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42419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22AD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rgbClr val="22AD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22AD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22AD67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22AD67"/>
                                      </a:solidFill>
                                      <a:latin typeface="Cambria Math" panose="02040503050406030204" pitchFamily="18" charset="0"/>
                                    </a:rPr>
                                    <m:t>𝐹𝑋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22AD6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22AD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22AD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22AD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22AD6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29722D-ABA0-6A66-0115-BCB1B553B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603" y="1989054"/>
                <a:ext cx="6210483" cy="9028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0CFC8B-C18F-29E1-D58A-9FF2F7C72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47" y="1009080"/>
            <a:ext cx="5202359" cy="5484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5FD33-619A-B3BD-B842-3EDC4AA26C9E}"/>
              </a:ext>
            </a:extLst>
          </p:cNvPr>
          <p:cNvSpPr txBox="1"/>
          <p:nvPr/>
        </p:nvSpPr>
        <p:spPr>
          <a:xfrm>
            <a:off x="0" y="6583487"/>
            <a:ext cx="1219200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Bradley A.A. et al. (eds),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Handbook of Hydrometeorological Ensemble Forecasting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Springer, Berlin, Heidelberg, 2016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01B5E-5333-8F4E-9ECC-7B3DB4FC0AAD}"/>
              </a:ext>
            </a:extLst>
          </p:cNvPr>
          <p:cNvGrpSpPr/>
          <p:nvPr/>
        </p:nvGrpSpPr>
        <p:grpSpPr>
          <a:xfrm>
            <a:off x="6565259" y="3069043"/>
            <a:ext cx="5214440" cy="1018609"/>
            <a:chOff x="6798173" y="4000695"/>
            <a:chExt cx="5214440" cy="10186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CB4E0F-A4B4-DF6F-258D-468DAE49BA61}"/>
                </a:ext>
              </a:extLst>
            </p:cNvPr>
            <p:cNvSpPr txBox="1"/>
            <p:nvPr/>
          </p:nvSpPr>
          <p:spPr>
            <a:xfrm>
              <a:off x="6798173" y="4311418"/>
              <a:ext cx="151240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2383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Potential Skill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94BBD6-834F-2A1F-AC3A-26F5EA02827C}"/>
                </a:ext>
              </a:extLst>
            </p:cNvPr>
            <p:cNvSpPr txBox="1"/>
            <p:nvPr/>
          </p:nvSpPr>
          <p:spPr>
            <a:xfrm>
              <a:off x="8142524" y="4311418"/>
              <a:ext cx="188846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424197"/>
                  </a:solidFill>
                  <a:cs typeface="Arial" panose="020B0604020202020204" pitchFamily="34" charset="0"/>
                </a:rPr>
                <a:t>Unconditional</a:t>
              </a:r>
              <a:r>
                <a:rPr lang="en-US" sz="2000" dirty="0">
                  <a:solidFill>
                    <a:srgbClr val="424197"/>
                  </a:solidFill>
                </a:rPr>
                <a:t> Bias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63265A-1393-8D63-5E2B-7096D567D4FF}"/>
                </a:ext>
              </a:extLst>
            </p:cNvPr>
            <p:cNvSpPr txBox="1"/>
            <p:nvPr/>
          </p:nvSpPr>
          <p:spPr>
            <a:xfrm>
              <a:off x="10118670" y="4311418"/>
              <a:ext cx="176341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22AD6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Conditional Bias</a:t>
              </a:r>
            </a:p>
          </p:txBody>
        </p:sp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12281593-30D1-C850-8AE2-58F8AADECC93}"/>
                </a:ext>
              </a:extLst>
            </p:cNvPr>
            <p:cNvSpPr/>
            <p:nvPr/>
          </p:nvSpPr>
          <p:spPr>
            <a:xfrm rot="16200000">
              <a:off x="7474513" y="3697803"/>
              <a:ext cx="159726" cy="765513"/>
            </a:xfrm>
            <a:prstGeom prst="leftBrace">
              <a:avLst/>
            </a:prstGeom>
            <a:ln w="19050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2383E"/>
                </a:solidFill>
              </a:endParaRP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F7F65535-5B91-3BD8-4887-6F73731C3396}"/>
                </a:ext>
              </a:extLst>
            </p:cNvPr>
            <p:cNvSpPr/>
            <p:nvPr/>
          </p:nvSpPr>
          <p:spPr>
            <a:xfrm rot="16200000">
              <a:off x="8930918" y="3408416"/>
              <a:ext cx="159725" cy="1344285"/>
            </a:xfrm>
            <a:prstGeom prst="leftBrace">
              <a:avLst/>
            </a:prstGeom>
            <a:ln w="19050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2383E"/>
                </a:solidFill>
              </a:endParaRP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E4D1F81E-37F3-2DD7-70B9-617F6F590456}"/>
                </a:ext>
              </a:extLst>
            </p:cNvPr>
            <p:cNvSpPr/>
            <p:nvPr/>
          </p:nvSpPr>
          <p:spPr>
            <a:xfrm rot="16200000">
              <a:off x="10940257" y="3144866"/>
              <a:ext cx="216528" cy="1928185"/>
            </a:xfrm>
            <a:prstGeom prst="leftBrace">
              <a:avLst/>
            </a:prstGeom>
            <a:ln w="19050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2383E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1480AB-A6E7-DBB0-7593-27E098C1C107}"/>
                  </a:ext>
                </a:extLst>
              </p:cNvPr>
              <p:cNvSpPr txBox="1"/>
              <p:nvPr/>
            </p:nvSpPr>
            <p:spPr>
              <a:xfrm>
                <a:off x="5916756" y="4285793"/>
                <a:ext cx="5940897" cy="1297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𝐹𝑋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 c</a:t>
                </a:r>
                <a:r>
                  <a:rPr lang="en-US" spc="-100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orrelation between the forecasts and observations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: </a:t>
                </a:r>
                <a:r>
                  <a:rPr lang="en-US" spc="-100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standard deviation of the forecasts (observations)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0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accent6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 : </a:t>
                </a:r>
                <a:r>
                  <a:rPr lang="en-US" spc="-100" dirty="0">
                    <a:solidFill>
                      <a:schemeClr val="accent6">
                        <a:lumMod val="10000"/>
                      </a:schemeClr>
                    </a:solidFill>
                    <a:latin typeface="Aptos" panose="020B0004020202020204" pitchFamily="34" charset="0"/>
                  </a:rPr>
                  <a:t>mean of the forecasts (observations)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1480AB-A6E7-DBB0-7593-27E098C1C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756" y="4285793"/>
                <a:ext cx="5940897" cy="1297471"/>
              </a:xfrm>
              <a:prstGeom prst="rect">
                <a:avLst/>
              </a:prstGeom>
              <a:blipFill>
                <a:blip r:embed="rId4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75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7C1F-587D-E1E1-0DDF-5473A041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D42CCBF-7B21-621A-0E49-160A90CA762B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804F17-44B4-22AE-313D-FAEB7A9BFC95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 — (1) Climate driver selection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직사각형 7">
            <a:extLst>
              <a:ext uri="{FF2B5EF4-FFF2-40B4-BE49-F238E27FC236}">
                <a16:creationId xmlns:a16="http://schemas.microsoft.com/office/drawing/2014/main" id="{0256C7CF-3972-010E-DE74-4B756E8BAC8E}"/>
              </a:ext>
            </a:extLst>
          </p:cNvPr>
          <p:cNvSpPr/>
          <p:nvPr/>
        </p:nvSpPr>
        <p:spPr>
          <a:xfrm>
            <a:off x="0" y="457523"/>
            <a:ext cx="12192000" cy="707886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Instead of using all observations, we apply a training – validation approach to identify primary climate drivers, enabling more robust peak discharge predictions, especially for extrapolation.</a:t>
            </a:r>
          </a:p>
        </p:txBody>
      </p:sp>
      <p:sp>
        <p:nvSpPr>
          <p:cNvPr id="39" name="직사각형 7">
            <a:extLst>
              <a:ext uri="{FF2B5EF4-FFF2-40B4-BE49-F238E27FC236}">
                <a16:creationId xmlns:a16="http://schemas.microsoft.com/office/drawing/2014/main" id="{16FB5049-D63C-DAFF-7198-9AF745931E1E}"/>
              </a:ext>
            </a:extLst>
          </p:cNvPr>
          <p:cNvSpPr/>
          <p:nvPr/>
        </p:nvSpPr>
        <p:spPr>
          <a:xfrm>
            <a:off x="0" y="1273724"/>
            <a:ext cx="5363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/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(1) Randomly split the entire years into training (80%) and validation (20%) years.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67FDDB-2C10-364A-6DDE-F33DB51A790D}"/>
              </a:ext>
            </a:extLst>
          </p:cNvPr>
          <p:cNvSpPr/>
          <p:nvPr/>
        </p:nvSpPr>
        <p:spPr>
          <a:xfrm>
            <a:off x="5783180" y="1566112"/>
            <a:ext cx="5486400" cy="18288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9029D-6C9C-3619-06B7-E3103DF5C36D}"/>
              </a:ext>
            </a:extLst>
          </p:cNvPr>
          <p:cNvSpPr txBox="1"/>
          <p:nvPr/>
        </p:nvSpPr>
        <p:spPr>
          <a:xfrm>
            <a:off x="6679120" y="1212619"/>
            <a:ext cx="2264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  <a:latin typeface="Calibri" panose="020F0502020204030204"/>
              </a:rPr>
              <a:t>Training years (80%)</a:t>
            </a:r>
            <a:endParaRPr lang="ko-KR" alt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D5FE7-F6ED-819E-C7E7-80C494147A7C}"/>
              </a:ext>
            </a:extLst>
          </p:cNvPr>
          <p:cNvSpPr txBox="1"/>
          <p:nvPr/>
        </p:nvSpPr>
        <p:spPr>
          <a:xfrm>
            <a:off x="9409763" y="1212619"/>
            <a:ext cx="2182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Calibri" panose="020F0502020204030204"/>
              </a:rPr>
              <a:t>Validation years (20%)</a:t>
            </a:r>
            <a:endParaRPr lang="ko-KR" altLang="en-US" sz="14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0FEAC-F96B-7BF8-B2B1-67E7A1941A88}"/>
              </a:ext>
            </a:extLst>
          </p:cNvPr>
          <p:cNvSpPr/>
          <p:nvPr/>
        </p:nvSpPr>
        <p:spPr>
          <a:xfrm>
            <a:off x="9732439" y="1566112"/>
            <a:ext cx="1537141" cy="182880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3D97396B-505E-533C-DB58-E35C10602A2D}"/>
              </a:ext>
            </a:extLst>
          </p:cNvPr>
          <p:cNvSpPr/>
          <p:nvPr/>
        </p:nvSpPr>
        <p:spPr>
          <a:xfrm>
            <a:off x="0" y="2019822"/>
            <a:ext cx="53631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/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(2) For each season, fit all possible statistical models based on training years and select the best model based on the SBC.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     </a:t>
            </a:r>
            <a:r>
              <a:rPr lang="en-US" altLang="ko-KR" sz="1600" i="1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altLang="ko-KR" sz="1600" i="1" baseline="-25000" dirty="0" err="1">
                <a:solidFill>
                  <a:prstClr val="black"/>
                </a:solidFill>
                <a:latin typeface="Calibri" panose="020F0502020204030204"/>
              </a:rPr>
              <a:t>conc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en-US" altLang="ko-KR" sz="1600" i="1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altLang="ko-KR" sz="1600" i="1" baseline="-25000" dirty="0" err="1">
                <a:solidFill>
                  <a:prstClr val="black"/>
                </a:solidFill>
                <a:latin typeface="Calibri" panose="020F0502020204030204"/>
              </a:rPr>
              <a:t>prev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): basin-averaged seasonal precipitation for the 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                          concurrent (previous) season of interest.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     </a:t>
            </a:r>
            <a:r>
              <a:rPr lang="en-US" altLang="ko-KR" sz="1600" i="1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altLang="ko-KR" sz="1600" i="1" baseline="-25000" dirty="0" err="1">
                <a:solidFill>
                  <a:prstClr val="black"/>
                </a:solidFill>
                <a:latin typeface="Calibri" panose="020F0502020204030204"/>
              </a:rPr>
              <a:t>conc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en-US" altLang="ko-KR" sz="1600" i="1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altLang="ko-KR" sz="1600" i="1" baseline="-25000" dirty="0" err="1">
                <a:solidFill>
                  <a:prstClr val="black"/>
                </a:solidFill>
                <a:latin typeface="Calibri" panose="020F0502020204030204"/>
              </a:rPr>
              <a:t>prev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): basin-averaged seasonal temperature for the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                          concurrent (previous) season of interest.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F2EE75-6271-96C2-9A20-094510946FB9}"/>
                  </a:ext>
                </a:extLst>
              </p:cNvPr>
              <p:cNvSpPr txBox="1"/>
              <p:nvPr/>
            </p:nvSpPr>
            <p:spPr>
              <a:xfrm>
                <a:off x="5783179" y="2537537"/>
                <a:ext cx="2512681" cy="1273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&lt;DJF&gt;</a:t>
                </a: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M1: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M2: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M3: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M4: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</a:rPr>
                  <a:t>…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F2EE75-6271-96C2-9A20-094510946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179" y="2537537"/>
                <a:ext cx="2512681" cy="1273810"/>
              </a:xfrm>
              <a:prstGeom prst="rect">
                <a:avLst/>
              </a:prstGeom>
              <a:blipFill>
                <a:blip r:embed="rId2"/>
                <a:stretch>
                  <a:fillRect l="-243" b="-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9BE28111-C5ED-C7AB-E3F5-9AEBC3F42998}"/>
              </a:ext>
            </a:extLst>
          </p:cNvPr>
          <p:cNvSpPr/>
          <p:nvPr/>
        </p:nvSpPr>
        <p:spPr>
          <a:xfrm>
            <a:off x="5783180" y="2249271"/>
            <a:ext cx="3949259" cy="18288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50D82-464D-C097-AF87-8FF0E6084DF8}"/>
              </a:ext>
            </a:extLst>
          </p:cNvPr>
          <p:cNvSpPr txBox="1"/>
          <p:nvPr/>
        </p:nvSpPr>
        <p:spPr>
          <a:xfrm>
            <a:off x="6828818" y="1954535"/>
            <a:ext cx="185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  <a:latin typeface="Calibri" panose="020F0502020204030204"/>
              </a:rPr>
              <a:t>Training years (80%)</a:t>
            </a:r>
            <a:endParaRPr lang="ko-KR" alt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728164-84DD-1C58-AAC5-547311BC6C16}"/>
              </a:ext>
            </a:extLst>
          </p:cNvPr>
          <p:cNvSpPr txBox="1"/>
          <p:nvPr/>
        </p:nvSpPr>
        <p:spPr>
          <a:xfrm>
            <a:off x="5832605" y="3940629"/>
            <a:ext cx="1562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M2 (Smallest SBC)</a:t>
            </a:r>
            <a:endParaRPr 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6481B67-D530-F132-E56C-41E2B6613CEF}"/>
              </a:ext>
            </a:extLst>
          </p:cNvPr>
          <p:cNvSpPr/>
          <p:nvPr/>
        </p:nvSpPr>
        <p:spPr>
          <a:xfrm rot="5400000">
            <a:off x="6510610" y="3636415"/>
            <a:ext cx="206260" cy="357631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직사각형 7">
            <a:extLst>
              <a:ext uri="{FF2B5EF4-FFF2-40B4-BE49-F238E27FC236}">
                <a16:creationId xmlns:a16="http://schemas.microsoft.com/office/drawing/2014/main" id="{E5C2812A-697E-B8C7-983A-A3B69A06A8D4}"/>
              </a:ext>
            </a:extLst>
          </p:cNvPr>
          <p:cNvSpPr/>
          <p:nvPr/>
        </p:nvSpPr>
        <p:spPr>
          <a:xfrm>
            <a:off x="1" y="4342027"/>
            <a:ext cx="53631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/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(3) Once we have four seasonal models, simulate annual maximum values for the validation years through Monte Carlo simulation (5,000 times).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1D5295-9304-9EE5-8CBD-496CC7C2BA15}"/>
              </a:ext>
            </a:extLst>
          </p:cNvPr>
          <p:cNvSpPr/>
          <p:nvPr/>
        </p:nvSpPr>
        <p:spPr>
          <a:xfrm>
            <a:off x="5747086" y="4875025"/>
            <a:ext cx="1537141" cy="182880"/>
          </a:xfrm>
          <a:prstGeom prst="rect">
            <a:avLst/>
          </a:prstGeom>
          <a:solidFill>
            <a:srgbClr val="FF0000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8948EC-AB30-8567-43F6-7D02C7340B1F}"/>
              </a:ext>
            </a:extLst>
          </p:cNvPr>
          <p:cNvSpPr txBox="1"/>
          <p:nvPr/>
        </p:nvSpPr>
        <p:spPr>
          <a:xfrm>
            <a:off x="5486400" y="4545218"/>
            <a:ext cx="2182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Calibri" panose="020F0502020204030204"/>
              </a:rPr>
              <a:t>Validation years (20%)</a:t>
            </a:r>
            <a:endParaRPr lang="ko-KR" altLang="en-US" sz="1400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9BC72C-EFCA-3EAD-3B15-C48AD8BDD334}"/>
              </a:ext>
            </a:extLst>
          </p:cNvPr>
          <p:cNvSpPr txBox="1"/>
          <p:nvPr/>
        </p:nvSpPr>
        <p:spPr>
          <a:xfrm>
            <a:off x="7897546" y="4488208"/>
            <a:ext cx="1045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DJF: M2</a:t>
            </a:r>
          </a:p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MAM: M1</a:t>
            </a:r>
          </a:p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JJA: M4</a:t>
            </a:r>
          </a:p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SON: M4</a:t>
            </a:r>
            <a:endParaRPr 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845DD75-EF0C-AB8C-0B23-0AA00FED2E80}"/>
              </a:ext>
            </a:extLst>
          </p:cNvPr>
          <p:cNvSpPr/>
          <p:nvPr/>
        </p:nvSpPr>
        <p:spPr>
          <a:xfrm>
            <a:off x="9271045" y="4931828"/>
            <a:ext cx="369333" cy="151437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E94B8E-9985-9533-DA4B-D10AFAC30CFA}"/>
              </a:ext>
            </a:extLst>
          </p:cNvPr>
          <p:cNvSpPr txBox="1"/>
          <p:nvPr/>
        </p:nvSpPr>
        <p:spPr>
          <a:xfrm>
            <a:off x="8723425" y="4408943"/>
            <a:ext cx="1562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Monte Carlo simulation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0B713B69-C9A0-8531-9C19-D24A5913FF90}"/>
              </a:ext>
            </a:extLst>
          </p:cNvPr>
          <p:cNvSpPr/>
          <p:nvPr/>
        </p:nvSpPr>
        <p:spPr>
          <a:xfrm>
            <a:off x="8723425" y="4562658"/>
            <a:ext cx="231300" cy="872053"/>
          </a:xfrm>
          <a:prstGeom prst="righ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6674F-9E0F-FA18-C16E-03F692583394}"/>
                  </a:ext>
                </a:extLst>
              </p:cNvPr>
              <p:cNvSpPr txBox="1"/>
              <p:nvPr/>
            </p:nvSpPr>
            <p:spPr>
              <a:xfrm>
                <a:off x="11161332" y="4817643"/>
                <a:ext cx="679430" cy="330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/>
                    </m:sSubSup>
                  </m:oMath>
                </a14:m>
                <a:r>
                  <a:rPr lang="en-US" sz="1400" baseline="-25000" dirty="0">
                    <a:solidFill>
                      <a:srgbClr val="FF0000"/>
                    </a:solidFill>
                    <a:latin typeface="Calibri" panose="020F0502020204030204"/>
                  </a:rPr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C6674F-9E0F-FA18-C16E-03F692583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1332" y="4817643"/>
                <a:ext cx="679430" cy="3309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직사각형 7">
            <a:extLst>
              <a:ext uri="{FF2B5EF4-FFF2-40B4-BE49-F238E27FC236}">
                <a16:creationId xmlns:a16="http://schemas.microsoft.com/office/drawing/2014/main" id="{FB3AA645-9D92-E87F-BC79-2FB8A7C41DC0}"/>
              </a:ext>
            </a:extLst>
          </p:cNvPr>
          <p:cNvSpPr/>
          <p:nvPr/>
        </p:nvSpPr>
        <p:spPr>
          <a:xfrm>
            <a:off x="0" y="6146702"/>
            <a:ext cx="5363182" cy="338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(5) Iterate (1)–(4) 1,000 times.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24CBA6-3CF6-0B57-1C29-AE171CD7CE46}"/>
                  </a:ext>
                </a:extLst>
              </p:cNvPr>
              <p:cNvSpPr txBox="1"/>
              <p:nvPr/>
            </p:nvSpPr>
            <p:spPr>
              <a:xfrm>
                <a:off x="5747086" y="6146701"/>
                <a:ext cx="2338136" cy="31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FF0000"/>
                    </a:solidFill>
                    <a:latin typeface="Calibri" panose="020F0502020204030204"/>
                    <a:cs typeface="Arial" panose="020B0604020202020204" pitchFamily="34" charset="0"/>
                  </a:rPr>
                  <a:t>, …,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000</m:t>
                        </m:r>
                      </m:sup>
                    </m:sSubSup>
                  </m:oMath>
                </a14:m>
                <a:endParaRPr lang="en-US" sz="1400" dirty="0">
                  <a:solidFill>
                    <a:srgbClr val="FF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24CBA6-3CF6-0B57-1C29-AE171CD7C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086" y="6146701"/>
                <a:ext cx="2338136" cy="313163"/>
              </a:xfrm>
              <a:prstGeom prst="rect">
                <a:avLst/>
              </a:prstGeom>
              <a:blipFill>
                <a:blip r:embed="rId4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ross 55">
            <a:extLst>
              <a:ext uri="{FF2B5EF4-FFF2-40B4-BE49-F238E27FC236}">
                <a16:creationId xmlns:a16="http://schemas.microsoft.com/office/drawing/2014/main" id="{16488702-9C4E-FBE0-873B-8795CD1E9AFB}"/>
              </a:ext>
            </a:extLst>
          </p:cNvPr>
          <p:cNvSpPr/>
          <p:nvPr/>
        </p:nvSpPr>
        <p:spPr>
          <a:xfrm>
            <a:off x="7541704" y="4828102"/>
            <a:ext cx="274320" cy="274320"/>
          </a:xfrm>
          <a:prstGeom prst="plus">
            <a:avLst>
              <a:gd name="adj" fmla="val 3888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77D450-633F-D028-3BBD-FD51F30B1A08}"/>
                  </a:ext>
                </a:extLst>
              </p:cNvPr>
              <p:cNvSpPr txBox="1"/>
              <p:nvPr/>
            </p:nvSpPr>
            <p:spPr>
              <a:xfrm>
                <a:off x="8295860" y="2533283"/>
                <a:ext cx="2512681" cy="1273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&lt;MAM&gt;</a:t>
                </a: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M1: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M2: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M3: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  <a:cs typeface="Arial" panose="020B0604020202020204" pitchFamily="34" charset="0"/>
                  </a:rPr>
                  <a:t>M4: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sz="12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200" dirty="0">
                    <a:solidFill>
                      <a:srgbClr val="0070C0"/>
                    </a:solidFill>
                    <a:latin typeface="Calibri" panose="020F0502020204030204"/>
                  </a:rPr>
                  <a:t>…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877D450-633F-D028-3BBD-FD51F30B1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860" y="2533283"/>
                <a:ext cx="2512681" cy="1273810"/>
              </a:xfrm>
              <a:prstGeom prst="rect">
                <a:avLst/>
              </a:prstGeom>
              <a:blipFill>
                <a:blip r:embed="rId5"/>
                <a:stretch>
                  <a:fillRect l="-243" t="-478" b="-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EEE25F-777C-2154-DCFA-7729D3D6F550}"/>
              </a:ext>
            </a:extLst>
          </p:cNvPr>
          <p:cNvSpPr txBox="1"/>
          <p:nvPr/>
        </p:nvSpPr>
        <p:spPr>
          <a:xfrm>
            <a:off x="10808541" y="2527653"/>
            <a:ext cx="12205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/>
              </a:rPr>
              <a:t>&lt;JJA&gt;       &lt;SON&gt;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99E8E-DB7D-FA2C-6D13-D4B46961FA48}"/>
              </a:ext>
            </a:extLst>
          </p:cNvPr>
          <p:cNvSpPr txBox="1"/>
          <p:nvPr/>
        </p:nvSpPr>
        <p:spPr>
          <a:xfrm>
            <a:off x="10982182" y="2935675"/>
            <a:ext cx="610075" cy="37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Calibri" panose="020F0502020204030204"/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14F34-4D8B-B76C-3C2B-CBA457348B7D}"/>
              </a:ext>
            </a:extLst>
          </p:cNvPr>
          <p:cNvSpPr txBox="1"/>
          <p:nvPr/>
        </p:nvSpPr>
        <p:spPr>
          <a:xfrm>
            <a:off x="8440667" y="3940629"/>
            <a:ext cx="1562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Calibri" panose="020F0502020204030204"/>
                <a:cs typeface="Arial" panose="020B0604020202020204" pitchFamily="34" charset="0"/>
              </a:rPr>
              <a:t>M1 (Smallest SBC)</a:t>
            </a:r>
            <a:endParaRPr 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294D28-C41B-A20F-6EB9-85AED007A9C9}"/>
              </a:ext>
            </a:extLst>
          </p:cNvPr>
          <p:cNvSpPr txBox="1"/>
          <p:nvPr/>
        </p:nvSpPr>
        <p:spPr>
          <a:xfrm>
            <a:off x="10982182" y="3688840"/>
            <a:ext cx="610075" cy="37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Calibri" panose="020F0502020204030204"/>
              </a:rPr>
              <a:t>…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0FBDA04-BE5F-134F-BE4A-5AFEB7967435}"/>
              </a:ext>
            </a:extLst>
          </p:cNvPr>
          <p:cNvSpPr/>
          <p:nvPr/>
        </p:nvSpPr>
        <p:spPr>
          <a:xfrm rot="5400000">
            <a:off x="9127817" y="3629601"/>
            <a:ext cx="206260" cy="357631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직사각형 7">
            <a:extLst>
              <a:ext uri="{FF2B5EF4-FFF2-40B4-BE49-F238E27FC236}">
                <a16:creationId xmlns:a16="http://schemas.microsoft.com/office/drawing/2014/main" id="{744238F0-760F-EA1A-8719-DFCF7BCDCAE0}"/>
              </a:ext>
            </a:extLst>
          </p:cNvPr>
          <p:cNvSpPr/>
          <p:nvPr/>
        </p:nvSpPr>
        <p:spPr>
          <a:xfrm>
            <a:off x="1" y="5173024"/>
            <a:ext cx="5363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/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(4) Calculate skill score between simulated and observed annual maxima for the validation years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297496-C944-EAF0-0CDF-2B7794A8A90D}"/>
              </a:ext>
            </a:extLst>
          </p:cNvPr>
          <p:cNvCxnSpPr>
            <a:cxnSpLocks/>
          </p:cNvCxnSpPr>
          <p:nvPr/>
        </p:nvCxnSpPr>
        <p:spPr>
          <a:xfrm>
            <a:off x="66261" y="1927057"/>
            <a:ext cx="1202908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BAFB11-212F-45D4-37FB-11D67068AA55}"/>
              </a:ext>
            </a:extLst>
          </p:cNvPr>
          <p:cNvCxnSpPr>
            <a:cxnSpLocks/>
          </p:cNvCxnSpPr>
          <p:nvPr/>
        </p:nvCxnSpPr>
        <p:spPr>
          <a:xfrm>
            <a:off x="81457" y="4289426"/>
            <a:ext cx="1202908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60E02F-6B5F-47C0-90BD-178222F83251}"/>
              </a:ext>
            </a:extLst>
          </p:cNvPr>
          <p:cNvSpPr txBox="1"/>
          <p:nvPr/>
        </p:nvSpPr>
        <p:spPr>
          <a:xfrm>
            <a:off x="10053891" y="4746104"/>
            <a:ext cx="827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rPr>
              <a:t>Annual maxima</a:t>
            </a:r>
            <a:endParaRPr lang="en-US" sz="1400" dirty="0">
              <a:solidFill>
                <a:srgbClr val="FF0000"/>
              </a:solidFill>
              <a:latin typeface="Calibri" panose="020F0502020204030204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189897-45C9-EB23-04A2-127C937621B1}"/>
              </a:ext>
            </a:extLst>
          </p:cNvPr>
          <p:cNvCxnSpPr>
            <a:cxnSpLocks/>
          </p:cNvCxnSpPr>
          <p:nvPr/>
        </p:nvCxnSpPr>
        <p:spPr>
          <a:xfrm>
            <a:off x="81457" y="5992331"/>
            <a:ext cx="1202908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83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4366-629A-6C18-EB21-6420EC87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showing a number of valid iterations&#10;&#10;AI-generated content may be incorrect.">
            <a:extLst>
              <a:ext uri="{FF2B5EF4-FFF2-40B4-BE49-F238E27FC236}">
                <a16:creationId xmlns:a16="http://schemas.microsoft.com/office/drawing/2014/main" id="{03D50DA1-4B01-3411-FCAC-768E5DDD8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" y="3125607"/>
            <a:ext cx="4574285" cy="3659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6991C0C-A582-C0CA-0B4D-AA38E56E53D5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46A16-D94B-4180-553F-5F6432CC8187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 — (1) Climate driver selection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8DE0BC7E-0BE2-BE6E-424F-E861336EEF29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Out of 9,023 </a:t>
            </a:r>
            <a:r>
              <a:rPr lang="en-US" altLang="ko-KR" sz="2000" kern="0" dirty="0" err="1">
                <a:solidFill>
                  <a:prstClr val="black"/>
                </a:solidFill>
                <a:latin typeface="Calibri" panose="020F0502020204030204"/>
              </a:rPr>
              <a:t>streamgauges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, we first select 8,283 </a:t>
            </a:r>
            <a:r>
              <a:rPr lang="en-US" altLang="ko-KR" sz="2000" kern="0" dirty="0" err="1">
                <a:solidFill>
                  <a:prstClr val="black"/>
                </a:solidFill>
                <a:latin typeface="Calibri" panose="020F0502020204030204"/>
              </a:rPr>
              <a:t>streamgauges</a:t>
            </a:r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 where the number of valid iterations ≥ 200.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3CA01-4261-A42C-312C-562EFDE31891}"/>
              </a:ext>
            </a:extLst>
          </p:cNvPr>
          <p:cNvSpPr txBox="1"/>
          <p:nvPr/>
        </p:nvSpPr>
        <p:spPr>
          <a:xfrm>
            <a:off x="1475173" y="3470162"/>
            <a:ext cx="15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8,283 sites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BE50FB-5C22-5322-544E-CF6DC67634E8}"/>
              </a:ext>
            </a:extLst>
          </p:cNvPr>
          <p:cNvCxnSpPr>
            <a:cxnSpLocks/>
          </p:cNvCxnSpPr>
          <p:nvPr/>
        </p:nvCxnSpPr>
        <p:spPr>
          <a:xfrm flipV="1">
            <a:off x="1405965" y="3456870"/>
            <a:ext cx="0" cy="2905645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oup of blue and black dots&#10;&#10;AI-generated content may be incorrect.">
            <a:extLst>
              <a:ext uri="{FF2B5EF4-FFF2-40B4-BE49-F238E27FC236}">
                <a16:creationId xmlns:a16="http://schemas.microsoft.com/office/drawing/2014/main" id="{061B7ECF-B9CE-A587-207D-B505C1258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27" t="37018" b="39123"/>
          <a:stretch>
            <a:fillRect/>
          </a:stretch>
        </p:blipFill>
        <p:spPr>
          <a:xfrm>
            <a:off x="4566242" y="4107195"/>
            <a:ext cx="820153" cy="1636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42CE19-4FCE-8EDF-CAF7-A0CA17D118C4}"/>
                  </a:ext>
                </a:extLst>
              </p:cNvPr>
              <p:cNvSpPr txBox="1"/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Valid iteration: yields positive skill score for annual maxima prediction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/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42CE19-4FCE-8EDF-CAF7-A0CA17D11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blipFill>
                <a:blip r:embed="rId4"/>
                <a:stretch>
                  <a:fillRect l="-411" t="-1538" b="-2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D4BF59-558D-CB49-FC0F-21A839C19C55}"/>
                  </a:ext>
                </a:extLst>
              </p:cNvPr>
              <p:cNvSpPr txBox="1"/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cs typeface="Arial" panose="020B0604020202020204" pitchFamily="34" charset="0"/>
                  </a:rPr>
                  <a:t>Iteration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/>
                    <a:cs typeface="Arial" panose="020B0604020202020204" pitchFamily="34" charset="0"/>
                  </a:rPr>
                  <a:t> ≤ 0 (invalid)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1000: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000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D4BF59-558D-CB49-FC0F-21A839C19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blipFill>
                <a:blip r:embed="rId5"/>
                <a:stretch>
                  <a:fillRect l="-693" b="-2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7">
            <a:extLst>
              <a:ext uri="{FF2B5EF4-FFF2-40B4-BE49-F238E27FC236}">
                <a16:creationId xmlns:a16="http://schemas.microsoft.com/office/drawing/2014/main" id="{25DAD28C-5B3F-24C6-8CEF-1177DCE6152F}"/>
              </a:ext>
            </a:extLst>
          </p:cNvPr>
          <p:cNvSpPr/>
          <p:nvPr/>
        </p:nvSpPr>
        <p:spPr>
          <a:xfrm>
            <a:off x="8934450" y="6912"/>
            <a:ext cx="3225658" cy="257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FloodMagnitude_v1.4/01_Covariate_selection/Results02_N_iterations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7355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663B-C0A0-1CD7-4E4B-AE1343CA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showing a number of valid iterations&#10;&#10;AI-generated content may be incorrect.">
            <a:extLst>
              <a:ext uri="{FF2B5EF4-FFF2-40B4-BE49-F238E27FC236}">
                <a16:creationId xmlns:a16="http://schemas.microsoft.com/office/drawing/2014/main" id="{E0188015-03A1-B674-374D-0142CD2BF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" y="3125607"/>
            <a:ext cx="4574285" cy="3659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395A50F-AF44-86F8-AA61-E7468A183763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CE08D-0FC3-8FB1-C771-5410421495F7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 — (1) Climate driver selection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024A6C2F-7D5F-BD22-2B75-A4AB18FD9B05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For each season, we use the climate drivers as predictors, which are selected at least 70% of valid iterations.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CEE07-7BCD-3AF5-CE81-B951F374F83C}"/>
              </a:ext>
            </a:extLst>
          </p:cNvPr>
          <p:cNvSpPr txBox="1"/>
          <p:nvPr/>
        </p:nvSpPr>
        <p:spPr>
          <a:xfrm>
            <a:off x="1475173" y="3470162"/>
            <a:ext cx="15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8,283 sites</a:t>
            </a:r>
          </a:p>
        </p:txBody>
      </p:sp>
      <p:pic>
        <p:nvPicPr>
          <p:cNvPr id="8" name="Picture 7" descr="A group of blue and black dots&#10;&#10;AI-generated content may be incorrect.">
            <a:extLst>
              <a:ext uri="{FF2B5EF4-FFF2-40B4-BE49-F238E27FC236}">
                <a16:creationId xmlns:a16="http://schemas.microsoft.com/office/drawing/2014/main" id="{2F16ED65-6930-83BE-6F0C-380EA251A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27" t="37018" b="39123"/>
          <a:stretch>
            <a:fillRect/>
          </a:stretch>
        </p:blipFill>
        <p:spPr>
          <a:xfrm>
            <a:off x="4566242" y="4107195"/>
            <a:ext cx="820153" cy="1636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9F4674-28FB-7854-947E-2219B7948333}"/>
                  </a:ext>
                </a:extLst>
              </p:cNvPr>
              <p:cNvSpPr txBox="1"/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Valid iteration: yields positive skill score for annual maxima prediction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/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9F4674-28FB-7854-947E-2219B7948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blipFill>
                <a:blip r:embed="rId4"/>
                <a:stretch>
                  <a:fillRect l="-411" t="-1538" b="-2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5BCC30-7DE6-4922-775D-A8CB31221463}"/>
                  </a:ext>
                </a:extLst>
              </p:cNvPr>
              <p:cNvSpPr txBox="1"/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cs typeface="Arial" panose="020B0604020202020204" pitchFamily="34" charset="0"/>
                  </a:rPr>
                  <a:t>Iteration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/>
                    <a:cs typeface="Arial" panose="020B0604020202020204" pitchFamily="34" charset="0"/>
                  </a:rPr>
                  <a:t> ≤ 0 (invalid)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1000: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000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5BCC30-7DE6-4922-775D-A8CB31221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blipFill>
                <a:blip r:embed="rId5"/>
                <a:stretch>
                  <a:fillRect l="-693" b="-2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D1CF071B-789B-8CF0-9445-5A6F8DF85126}"/>
              </a:ext>
            </a:extLst>
          </p:cNvPr>
          <p:cNvSpPr/>
          <p:nvPr/>
        </p:nvSpPr>
        <p:spPr>
          <a:xfrm>
            <a:off x="2162373" y="4437992"/>
            <a:ext cx="182880" cy="182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203C88-4A43-370B-0E15-F375542A592A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2318471" y="1789895"/>
            <a:ext cx="3236168" cy="2674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1E42D1-D3A3-044C-7CCE-C16276EDD85E}"/>
              </a:ext>
            </a:extLst>
          </p:cNvPr>
          <p:cNvSpPr txBox="1"/>
          <p:nvPr/>
        </p:nvSpPr>
        <p:spPr>
          <a:xfrm>
            <a:off x="5650173" y="1456666"/>
            <a:ext cx="507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e.g.) The number of valid iterations: 430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2AE381C-5473-D6D7-A477-5673F7DDF9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9637547"/>
                  </p:ext>
                </p:extLst>
              </p:nvPr>
            </p:nvGraphicFramePr>
            <p:xfrm>
              <a:off x="5710737" y="1843494"/>
              <a:ext cx="5508193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041">
                      <a:extLst>
                        <a:ext uri="{9D8B030D-6E8A-4147-A177-3AD203B41FA5}">
                          <a16:colId xmlns:a16="http://schemas.microsoft.com/office/drawing/2014/main" val="2186755952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93544832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5546888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26546235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008010904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51455677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196178297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8418115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739131944"/>
                        </a:ext>
                      </a:extLst>
                    </a:gridCol>
                  </a:tblGrid>
                  <a:tr h="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Valid iteration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DJF model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020899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𝝈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280150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ko-KR" sz="1300" b="1" i="1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300" b="1" i="1" baseline="-25000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conc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ko-KR" sz="1300" b="1" i="1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300" b="1" i="1" baseline="-25000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conc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1120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84736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620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3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43982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…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60038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430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6727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Percentage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97%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50%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13%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51811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82AE381C-5473-D6D7-A477-5673F7DDF9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9637547"/>
                  </p:ext>
                </p:extLst>
              </p:nvPr>
            </p:nvGraphicFramePr>
            <p:xfrm>
              <a:off x="5710737" y="1843494"/>
              <a:ext cx="5508193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041">
                      <a:extLst>
                        <a:ext uri="{9D8B030D-6E8A-4147-A177-3AD203B41FA5}">
                          <a16:colId xmlns:a16="http://schemas.microsoft.com/office/drawing/2014/main" val="2186755952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93544832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5546888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26546235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008010904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51455677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196178297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8418115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739131944"/>
                        </a:ext>
                      </a:extLst>
                    </a:gridCol>
                  </a:tblGrid>
                  <a:tr h="28956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Valid iteration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DJF model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020899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986" t="-98000" r="-100542" b="-6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4595" t="-98000" r="-270" b="-6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2801505"/>
                      </a:ext>
                    </a:extLst>
                  </a:tr>
                  <a:tr h="2895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0435" t="-210638" r="-704348" b="-6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75269" t="-210638" r="-298925" b="-6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11208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847364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62067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3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4398247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…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600389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430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67273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Percentage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97%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50%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85%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13%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51811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E88A0A-0F56-5EBA-5A7F-C4518CD0F4D8}"/>
                  </a:ext>
                </a:extLst>
              </p:cNvPr>
              <p:cNvSpPr txBox="1"/>
              <p:nvPr/>
            </p:nvSpPr>
            <p:spPr>
              <a:xfrm>
                <a:off x="5710737" y="4530753"/>
                <a:ext cx="5951176" cy="37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Final DJF model: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E88A0A-0F56-5EBA-5A7F-C4518CD0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37" y="4530753"/>
                <a:ext cx="5951176" cy="376193"/>
              </a:xfrm>
              <a:prstGeom prst="rect">
                <a:avLst/>
              </a:prstGeom>
              <a:blipFill>
                <a:blip r:embed="rId7"/>
                <a:stretch>
                  <a:fillRect l="-61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80A304-B59C-EDBF-576B-0B4793415F32}"/>
              </a:ext>
            </a:extLst>
          </p:cNvPr>
          <p:cNvCxnSpPr>
            <a:cxnSpLocks/>
          </p:cNvCxnSpPr>
          <p:nvPr/>
        </p:nvCxnSpPr>
        <p:spPr>
          <a:xfrm flipV="1">
            <a:off x="1405965" y="3456870"/>
            <a:ext cx="0" cy="2905645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7">
            <a:extLst>
              <a:ext uri="{FF2B5EF4-FFF2-40B4-BE49-F238E27FC236}">
                <a16:creationId xmlns:a16="http://schemas.microsoft.com/office/drawing/2014/main" id="{4A7BE81B-816C-FEBC-6249-F459ABDFC7A6}"/>
              </a:ext>
            </a:extLst>
          </p:cNvPr>
          <p:cNvSpPr/>
          <p:nvPr/>
        </p:nvSpPr>
        <p:spPr>
          <a:xfrm>
            <a:off x="8410575" y="6912"/>
            <a:ext cx="3749533" cy="442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FloodMagnitude_v1.4/01_Covariate_selection/Results03_Count_cov_selection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 02_Seasonal_modeling_final / Results01_GAMLSS_Modeling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2274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9618-FAFC-CEBA-1B1F-6F3A8D93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showing a number of valid iterations&#10;&#10;AI-generated content may be incorrect.">
            <a:extLst>
              <a:ext uri="{FF2B5EF4-FFF2-40B4-BE49-F238E27FC236}">
                <a16:creationId xmlns:a16="http://schemas.microsoft.com/office/drawing/2014/main" id="{B7FB43F6-5AEC-6F3A-E402-25A426941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" y="3125607"/>
            <a:ext cx="4574285" cy="36594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F5DF5A2-5DC0-C34D-39C3-466C90954656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19948-7321-EF80-71A6-2E6CA5C998F5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 — (1) Climate driver selection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89412C3F-D933-E963-CE59-B2C48D5032E0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For each season, we use the climate drivers as predictors, which are selected at least 70% of valid iterations.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E5455-7D9D-1774-4F8E-1783B4F9A990}"/>
              </a:ext>
            </a:extLst>
          </p:cNvPr>
          <p:cNvSpPr txBox="1"/>
          <p:nvPr/>
        </p:nvSpPr>
        <p:spPr>
          <a:xfrm>
            <a:off x="1475173" y="3470162"/>
            <a:ext cx="15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8,283 sites</a:t>
            </a:r>
          </a:p>
        </p:txBody>
      </p:sp>
      <p:pic>
        <p:nvPicPr>
          <p:cNvPr id="8" name="Picture 7" descr="A group of blue and black dots&#10;&#10;AI-generated content may be incorrect.">
            <a:extLst>
              <a:ext uri="{FF2B5EF4-FFF2-40B4-BE49-F238E27FC236}">
                <a16:creationId xmlns:a16="http://schemas.microsoft.com/office/drawing/2014/main" id="{DAE85933-F526-7DE1-50EE-735E702EE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27" t="37018" b="39123"/>
          <a:stretch>
            <a:fillRect/>
          </a:stretch>
        </p:blipFill>
        <p:spPr>
          <a:xfrm>
            <a:off x="4566242" y="4107195"/>
            <a:ext cx="820153" cy="1636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4D47E-4519-F390-A771-B25624585C04}"/>
                  </a:ext>
                </a:extLst>
              </p:cNvPr>
              <p:cNvSpPr txBox="1"/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Valid iteration: yields positive skill score for annual maxima prediction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/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&gt;0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4D47E-4519-F390-A771-B2562458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991727"/>
                <a:ext cx="8897957" cy="399084"/>
              </a:xfrm>
              <a:prstGeom prst="rect">
                <a:avLst/>
              </a:prstGeom>
              <a:blipFill>
                <a:blip r:embed="rId4"/>
                <a:stretch>
                  <a:fillRect l="-411" t="-1538" b="-2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B549CF-CED4-9A43-8A55-CA448CDA67E5}"/>
                  </a:ext>
                </a:extLst>
              </p:cNvPr>
              <p:cNvSpPr txBox="1"/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cs typeface="Arial" panose="020B0604020202020204" pitchFamily="34" charset="0"/>
                  </a:rPr>
                  <a:t>Iteration 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bg1">
                        <a:lumMod val="50000"/>
                      </a:schemeClr>
                    </a:solidFill>
                    <a:latin typeface="Calibri" panose="020F0502020204030204"/>
                    <a:cs typeface="Arial" panose="020B0604020202020204" pitchFamily="34" charset="0"/>
                  </a:rPr>
                  <a:t> ≤ 0 (invalid)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3: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solidFill>
                      <a:schemeClr val="tx1"/>
                    </a:solidFill>
                    <a:cs typeface="Arial" panose="020B0604020202020204" pitchFamily="34" charset="0"/>
                  </a:rPr>
                  <a:t>Iteration 1000: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𝑆𝑆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𝐴𝑀</m:t>
                        </m:r>
                      </m:sub>
                      <m: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000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alibri" panose="020F0502020204030204"/>
                    <a:cs typeface="Arial" panose="020B0604020202020204" pitchFamily="34" charset="0"/>
                  </a:rPr>
                  <a:t> &gt; 0 (valid)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7B549CF-CED4-9A43-8A55-CA448CDA6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27" y="1390811"/>
                <a:ext cx="2636318" cy="1700530"/>
              </a:xfrm>
              <a:prstGeom prst="rect">
                <a:avLst/>
              </a:prstGeom>
              <a:blipFill>
                <a:blip r:embed="rId5"/>
                <a:stretch>
                  <a:fillRect l="-693" b="-2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67770FE5-13A6-D53F-9AA8-CD422CB64D2B}"/>
              </a:ext>
            </a:extLst>
          </p:cNvPr>
          <p:cNvSpPr/>
          <p:nvPr/>
        </p:nvSpPr>
        <p:spPr>
          <a:xfrm>
            <a:off x="2162373" y="4437992"/>
            <a:ext cx="182880" cy="182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7B4AD1-A5E2-2B65-6F9D-8C8041C4B44B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2318471" y="1789895"/>
            <a:ext cx="3236168" cy="26748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86DD0B-95A2-8AE7-2638-41E8C64723A9}"/>
              </a:ext>
            </a:extLst>
          </p:cNvPr>
          <p:cNvSpPr txBox="1"/>
          <p:nvPr/>
        </p:nvSpPr>
        <p:spPr>
          <a:xfrm>
            <a:off x="5650173" y="1456666"/>
            <a:ext cx="507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e.g.) The number of valid iterations: 430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6FDB47-F554-2444-B8EC-A4B2349250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73382"/>
                  </p:ext>
                </p:extLst>
              </p:nvPr>
            </p:nvGraphicFramePr>
            <p:xfrm>
              <a:off x="5710737" y="1843494"/>
              <a:ext cx="5508193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041">
                      <a:extLst>
                        <a:ext uri="{9D8B030D-6E8A-4147-A177-3AD203B41FA5}">
                          <a16:colId xmlns:a16="http://schemas.microsoft.com/office/drawing/2014/main" val="2186755952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93544832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5546888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26546235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008010904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51455677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196178297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8418115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739131944"/>
                        </a:ext>
                      </a:extLst>
                    </a:gridCol>
                  </a:tblGrid>
                  <a:tr h="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Valid iteration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MAM model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020899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𝝁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𝝈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280150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ko-KR" sz="1300" b="1" i="1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300" b="1" i="1" baseline="-25000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conc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ko-KR" sz="1300" b="1" i="1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altLang="ko-KR" sz="1300" b="1" i="1" baseline="-25000" dirty="0" smtClean="0">
                                    <a:solidFill>
                                      <a:schemeClr val="bg1"/>
                                    </a:solidFill>
                                    <a:latin typeface="Calibri" panose="020F0502020204030204"/>
                                  </a:rPr>
                                  <m:t>conc</m:t>
                                </m:r>
                              </m:oMath>
                            </m:oMathPara>
                          </a14:m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1120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84736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620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3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43982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…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60038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430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6727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Percentage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78%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20%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67%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5%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82%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51811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6FDB47-F554-2444-B8EC-A4B2349250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873382"/>
                  </p:ext>
                </p:extLst>
              </p:nvPr>
            </p:nvGraphicFramePr>
            <p:xfrm>
              <a:off x="5710737" y="1843494"/>
              <a:ext cx="5508193" cy="2621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8041">
                      <a:extLst>
                        <a:ext uri="{9D8B030D-6E8A-4147-A177-3AD203B41FA5}">
                          <a16:colId xmlns:a16="http://schemas.microsoft.com/office/drawing/2014/main" val="2186755952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93544832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5546888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26546235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008010904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514556776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3196178297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384181150"/>
                        </a:ext>
                      </a:extLst>
                    </a:gridCol>
                    <a:gridCol w="562519">
                      <a:extLst>
                        <a:ext uri="{9D8B030D-6E8A-4147-A177-3AD203B41FA5}">
                          <a16:colId xmlns:a16="http://schemas.microsoft.com/office/drawing/2014/main" val="1739131944"/>
                        </a:ext>
                      </a:extLst>
                    </a:gridCol>
                  </a:tblGrid>
                  <a:tr h="28956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Valid iteration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en-US" sz="1300" b="1" dirty="0">
                              <a:solidFill>
                                <a:schemeClr val="bg1"/>
                              </a:solidFill>
                            </a:rPr>
                            <a:t>MAM model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4020899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4986" t="-98000" r="-100542" b="-6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44595" t="-98000" r="-270" b="-68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2801505"/>
                      </a:ext>
                    </a:extLst>
                  </a:tr>
                  <a:tr h="28956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0435" t="-210638" r="-704348" b="-6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75269" t="-210638" r="-298925" b="-6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conc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300" b="1" i="1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T</a:t>
                          </a:r>
                          <a:r>
                            <a:rPr lang="en-US" altLang="ko-KR" sz="1300" b="1" i="1" baseline="-25000" dirty="0" err="1">
                              <a:solidFill>
                                <a:schemeClr val="bg1"/>
                              </a:solidFill>
                              <a:latin typeface="Calibri" panose="020F0502020204030204"/>
                            </a:rPr>
                            <a:t>prev</a:t>
                          </a:r>
                          <a:endParaRPr lang="en-US" sz="13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411208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1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847364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2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462067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3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74398247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…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300" dirty="0"/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6003895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430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O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X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67273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r>
                            <a:rPr lang="en-US" sz="1300" dirty="0"/>
                            <a:t>Percentage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78%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20%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67%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/>
                            <a:t>0%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5%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82%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1" dirty="0">
                              <a:solidFill>
                                <a:srgbClr val="FF0000"/>
                              </a:solidFill>
                            </a:rPr>
                            <a:t>77%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300" b="0" dirty="0">
                              <a:solidFill>
                                <a:schemeClr val="tx1"/>
                              </a:solidFill>
                            </a:rPr>
                            <a:t>1%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351811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A6C13C-22C8-5447-9925-7ABD74D8A3FA}"/>
                  </a:ext>
                </a:extLst>
              </p:cNvPr>
              <p:cNvSpPr txBox="1"/>
              <p:nvPr/>
            </p:nvSpPr>
            <p:spPr>
              <a:xfrm>
                <a:off x="5710737" y="4530753"/>
                <a:ext cx="5951176" cy="37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Final DJF model: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A6C13C-22C8-5447-9925-7ABD74D8A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37" y="4530753"/>
                <a:ext cx="5951176" cy="376193"/>
              </a:xfrm>
              <a:prstGeom prst="rect">
                <a:avLst/>
              </a:prstGeom>
              <a:blipFill>
                <a:blip r:embed="rId7"/>
                <a:stretch>
                  <a:fillRect l="-61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FA96C9-B6CD-9BF5-F88E-0183BBD5B8EC}"/>
                  </a:ext>
                </a:extLst>
              </p:cNvPr>
              <p:cNvSpPr txBox="1"/>
              <p:nvPr/>
            </p:nvSpPr>
            <p:spPr>
              <a:xfrm>
                <a:off x="5710738" y="4955321"/>
                <a:ext cx="5951175" cy="37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Final MAM model: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𝑐𝑜𝑛𝑐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FA96C9-B6CD-9BF5-F88E-0183BBD5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38" y="4955321"/>
                <a:ext cx="5951175" cy="376193"/>
              </a:xfrm>
              <a:prstGeom prst="rect">
                <a:avLst/>
              </a:prstGeom>
              <a:blipFill>
                <a:blip r:embed="rId8"/>
                <a:stretch>
                  <a:fillRect l="-61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C1ED-4951-ADF4-8D80-B08414ABCF4B}"/>
                  </a:ext>
                </a:extLst>
              </p:cNvPr>
              <p:cNvSpPr txBox="1"/>
              <p:nvPr/>
            </p:nvSpPr>
            <p:spPr>
              <a:xfrm>
                <a:off x="5710738" y="5379889"/>
                <a:ext cx="5951175" cy="35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Final JJA model: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C1ED-4951-ADF4-8D80-B08414ABC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38" y="5379889"/>
                <a:ext cx="5951175" cy="358560"/>
              </a:xfrm>
              <a:prstGeom prst="rect">
                <a:avLst/>
              </a:prstGeom>
              <a:blipFill>
                <a:blip r:embed="rId9"/>
                <a:stretch>
                  <a:fillRect l="-615" t="-3448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030A96-D641-3DEF-7E09-0303C0A4CC10}"/>
                  </a:ext>
                </a:extLst>
              </p:cNvPr>
              <p:cNvSpPr txBox="1"/>
              <p:nvPr/>
            </p:nvSpPr>
            <p:spPr>
              <a:xfrm>
                <a:off x="5710738" y="5798572"/>
                <a:ext cx="5951175" cy="376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Final SON model: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𝑐𝑜𝑛𝑐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030A96-D641-3DEF-7E09-0303C0A4C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38" y="5798572"/>
                <a:ext cx="5951175" cy="376193"/>
              </a:xfrm>
              <a:prstGeom prst="rect">
                <a:avLst/>
              </a:prstGeom>
              <a:blipFill>
                <a:blip r:embed="rId10"/>
                <a:stretch>
                  <a:fillRect l="-615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2018EC-D8F3-ADE8-8003-D9782F8A31ED}"/>
              </a:ext>
            </a:extLst>
          </p:cNvPr>
          <p:cNvCxnSpPr>
            <a:cxnSpLocks/>
          </p:cNvCxnSpPr>
          <p:nvPr/>
        </p:nvCxnSpPr>
        <p:spPr>
          <a:xfrm flipV="1">
            <a:off x="1405965" y="3456870"/>
            <a:ext cx="0" cy="2905645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7">
            <a:extLst>
              <a:ext uri="{FF2B5EF4-FFF2-40B4-BE49-F238E27FC236}">
                <a16:creationId xmlns:a16="http://schemas.microsoft.com/office/drawing/2014/main" id="{580D5681-3C45-3966-652C-85E669E02202}"/>
              </a:ext>
            </a:extLst>
          </p:cNvPr>
          <p:cNvSpPr/>
          <p:nvPr/>
        </p:nvSpPr>
        <p:spPr>
          <a:xfrm>
            <a:off x="8410575" y="6912"/>
            <a:ext cx="3749533" cy="442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FloodMagnitude_v1.4/01_Covariate_selection/Results03_Count_cov_selection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 02_Seasonal_modeling_final / Results01_GAMLSS_Modeling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558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0EB9-5283-5E3B-EFF5-5766CE8A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D7D6F73C-6DEB-46E4-C854-1AC52D18A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060" y="1480870"/>
            <a:ext cx="5266944" cy="526694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73EF9B-2046-823C-BA39-22D85DFDCEEA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AE989-8DE0-AC9A-366D-0B6208520245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prstClr val="black"/>
                </a:solidFill>
                <a:latin typeface="Calibri" panose="020F0502020204030204"/>
              </a:rPr>
              <a:t>II. Modeling procedure — (2) Final model fitting and annual maxima simulation</a:t>
            </a:r>
            <a:endParaRPr lang="ko-KR" alt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04CB0FD9-26A9-50B5-96C8-FED15193C77B}"/>
              </a:ext>
            </a:extLst>
          </p:cNvPr>
          <p:cNvSpPr/>
          <p:nvPr/>
        </p:nvSpPr>
        <p:spPr>
          <a:xfrm>
            <a:off x="0" y="457523"/>
            <a:ext cx="12192000" cy="707886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altLang="ko-KR" sz="2000" kern="0" dirty="0">
                <a:solidFill>
                  <a:prstClr val="black"/>
                </a:solidFill>
                <a:latin typeface="Calibri" panose="020F0502020204030204"/>
              </a:rPr>
              <a:t>For each season, we fit a statistical model using the entire observation years and the selected climate drivers. Then we conduct Monte Carlo simulation to simulate annual maximum peak discharges.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356FEF-C42C-A187-9375-08809452890D}"/>
                  </a:ext>
                </a:extLst>
              </p:cNvPr>
              <p:cNvSpPr txBox="1"/>
              <p:nvPr/>
            </p:nvSpPr>
            <p:spPr>
              <a:xfrm>
                <a:off x="153725" y="2375797"/>
                <a:ext cx="3418455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&lt;Final DJF model&gt;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356FEF-C42C-A187-9375-088094528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5" y="2375797"/>
                <a:ext cx="3418455" cy="622414"/>
              </a:xfrm>
              <a:prstGeom prst="rect">
                <a:avLst/>
              </a:prstGeom>
              <a:blipFill>
                <a:blip r:embed="rId3"/>
                <a:stretch>
                  <a:fillRect l="-891"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FDA275-9F0E-E773-BABC-479B2C80ED3F}"/>
                  </a:ext>
                </a:extLst>
              </p:cNvPr>
              <p:cNvSpPr txBox="1"/>
              <p:nvPr/>
            </p:nvSpPr>
            <p:spPr>
              <a:xfrm>
                <a:off x="153724" y="3211091"/>
                <a:ext cx="3418455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&lt;Final MAM model&gt;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FDA275-9F0E-E773-BABC-479B2C80E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" y="3211091"/>
                <a:ext cx="3418455" cy="622414"/>
              </a:xfrm>
              <a:prstGeom prst="rect">
                <a:avLst/>
              </a:prstGeom>
              <a:blipFill>
                <a:blip r:embed="rId4"/>
                <a:stretch>
                  <a:fillRect l="-891"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765774-DCEA-A89D-6FE4-B4B18C662887}"/>
                  </a:ext>
                </a:extLst>
              </p:cNvPr>
              <p:cNvSpPr txBox="1"/>
              <p:nvPr/>
            </p:nvSpPr>
            <p:spPr>
              <a:xfrm>
                <a:off x="153724" y="4046385"/>
                <a:ext cx="3418455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&lt;Final JJA model&gt;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 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765774-DCEA-A89D-6FE4-B4B18C662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" y="4046385"/>
                <a:ext cx="3418455" cy="622414"/>
              </a:xfrm>
              <a:prstGeom prst="rect">
                <a:avLst/>
              </a:prstGeom>
              <a:blipFill>
                <a:blip r:embed="rId5"/>
                <a:stretch>
                  <a:fillRect l="-891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109E0A-9D5E-5716-B04C-CC4582C21733}"/>
                  </a:ext>
                </a:extLst>
              </p:cNvPr>
              <p:cNvSpPr txBox="1"/>
              <p:nvPr/>
            </p:nvSpPr>
            <p:spPr>
              <a:xfrm>
                <a:off x="153724" y="4881678"/>
                <a:ext cx="3726298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&lt;Final SON model&gt;</a:t>
                </a:r>
              </a:p>
              <a:p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𝑔𝑎𝑚𝑚𝑎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𝑐𝑜𝑛𝑐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),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109E0A-9D5E-5716-B04C-CC4582C21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" y="4881678"/>
                <a:ext cx="3726298" cy="622414"/>
              </a:xfrm>
              <a:prstGeom prst="rect">
                <a:avLst/>
              </a:prstGeom>
              <a:blipFill>
                <a:blip r:embed="rId6"/>
                <a:stretch>
                  <a:fillRect l="-818" t="-2941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A7AE2FDC-22E9-7337-3881-3C74696B42BF}"/>
              </a:ext>
            </a:extLst>
          </p:cNvPr>
          <p:cNvSpPr/>
          <p:nvPr/>
        </p:nvSpPr>
        <p:spPr>
          <a:xfrm>
            <a:off x="232797" y="1577363"/>
            <a:ext cx="2743200" cy="18288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F096C6-5193-6336-54FB-C017D9EC6CA7}"/>
              </a:ext>
            </a:extLst>
          </p:cNvPr>
          <p:cNvSpPr txBox="1"/>
          <p:nvPr/>
        </p:nvSpPr>
        <p:spPr>
          <a:xfrm>
            <a:off x="565144" y="1269586"/>
            <a:ext cx="2102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  <a:latin typeface="Calibri" panose="020F0502020204030204"/>
              </a:rPr>
              <a:t>Training years (100%)</a:t>
            </a:r>
            <a:endParaRPr lang="ko-KR" altLang="en-US" sz="1400" dirty="0">
              <a:solidFill>
                <a:srgbClr val="0070C0"/>
              </a:solidFill>
              <a:latin typeface="Calibri" panose="020F0502020204030204"/>
            </a:endParaRPr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21FAF901-7770-A135-D50D-15CA49BC94A6}"/>
              </a:ext>
            </a:extLst>
          </p:cNvPr>
          <p:cNvSpPr/>
          <p:nvPr/>
        </p:nvSpPr>
        <p:spPr>
          <a:xfrm>
            <a:off x="1467237" y="1930860"/>
            <a:ext cx="274320" cy="274320"/>
          </a:xfrm>
          <a:prstGeom prst="plus">
            <a:avLst>
              <a:gd name="adj" fmla="val 3888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1ECF544-97E6-FF95-B8D3-2260FC574B12}"/>
              </a:ext>
            </a:extLst>
          </p:cNvPr>
          <p:cNvSpPr/>
          <p:nvPr/>
        </p:nvSpPr>
        <p:spPr>
          <a:xfrm>
            <a:off x="3904137" y="3897561"/>
            <a:ext cx="369333" cy="129407"/>
          </a:xfrm>
          <a:prstGeom prst="rightArrow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7FDEAA-3F59-45B4-5B9B-59947D80304C}"/>
              </a:ext>
            </a:extLst>
          </p:cNvPr>
          <p:cNvSpPr txBox="1"/>
          <p:nvPr/>
        </p:nvSpPr>
        <p:spPr>
          <a:xfrm>
            <a:off x="3572179" y="4077677"/>
            <a:ext cx="1107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Monte Carlo simulation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351ED40D-A943-D3CD-7AF9-357D125F05BA}"/>
              </a:ext>
            </a:extLst>
          </p:cNvPr>
          <p:cNvSpPr/>
          <p:nvPr/>
        </p:nvSpPr>
        <p:spPr>
          <a:xfrm>
            <a:off x="3447190" y="2462296"/>
            <a:ext cx="213133" cy="3037004"/>
          </a:xfrm>
          <a:prstGeom prst="righ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직사각형 7">
            <a:extLst>
              <a:ext uri="{FF2B5EF4-FFF2-40B4-BE49-F238E27FC236}">
                <a16:creationId xmlns:a16="http://schemas.microsoft.com/office/drawing/2014/main" id="{DE6780B9-0B9C-32F3-3111-386C41D5988E}"/>
              </a:ext>
            </a:extLst>
          </p:cNvPr>
          <p:cNvSpPr/>
          <p:nvPr/>
        </p:nvSpPr>
        <p:spPr>
          <a:xfrm>
            <a:off x="4642352" y="3668143"/>
            <a:ext cx="20801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</a:rPr>
              <a:t>Distribution of annual maximum peak discharges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E33E5A-19B0-238C-E6E6-C0CEC977FE56}"/>
              </a:ext>
            </a:extLst>
          </p:cNvPr>
          <p:cNvSpPr txBox="1"/>
          <p:nvPr/>
        </p:nvSpPr>
        <p:spPr>
          <a:xfrm>
            <a:off x="6810635" y="1170562"/>
            <a:ext cx="4816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e.g.) USGS 11377100</a:t>
            </a:r>
          </a:p>
        </p:txBody>
      </p:sp>
      <p:sp>
        <p:nvSpPr>
          <p:cNvPr id="4" name="직사각형 7">
            <a:extLst>
              <a:ext uri="{FF2B5EF4-FFF2-40B4-BE49-F238E27FC236}">
                <a16:creationId xmlns:a16="http://schemas.microsoft.com/office/drawing/2014/main" id="{993AF980-F112-AA58-F2EF-D880ABC4028C}"/>
              </a:ext>
            </a:extLst>
          </p:cNvPr>
          <p:cNvSpPr/>
          <p:nvPr/>
        </p:nvSpPr>
        <p:spPr>
          <a:xfrm>
            <a:off x="9210675" y="6585108"/>
            <a:ext cx="2952750" cy="257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FloodMagnitude_v1.4\04_Evaluation\Results00_Plot_timeseries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53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4880-8F27-1A05-B1E6-78873C09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AD38B71-684E-9D06-3718-02EEEB7E10CB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10C8A-EA6D-43C9-CEB9-D66A27E95087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III. Model evaluations</a:t>
            </a:r>
            <a:endParaRPr lang="ko-KR" altLang="en-US" sz="2400" b="1" dirty="0"/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441FCE7B-AF51-AC0B-0108-86632F247783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dirty="0"/>
              <a:t>We evaluate our modeling procedure focusing on annual maxima simulation results.</a:t>
            </a:r>
          </a:p>
        </p:txBody>
      </p:sp>
      <p:sp>
        <p:nvSpPr>
          <p:cNvPr id="2" name="직사각형 7">
            <a:extLst>
              <a:ext uri="{FF2B5EF4-FFF2-40B4-BE49-F238E27FC236}">
                <a16:creationId xmlns:a16="http://schemas.microsoft.com/office/drawing/2014/main" id="{5A920DC8-9D74-0DD1-35A5-80B0CF2CE52F}"/>
              </a:ext>
            </a:extLst>
          </p:cNvPr>
          <p:cNvSpPr/>
          <p:nvPr/>
        </p:nvSpPr>
        <p:spPr>
          <a:xfrm>
            <a:off x="0" y="857633"/>
            <a:ext cx="11961628" cy="46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Condition #1. Skill score &gt;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5121C-CBDB-E42A-B61D-7DFB5ECAA2BD}"/>
              </a:ext>
            </a:extLst>
          </p:cNvPr>
          <p:cNvSpPr txBox="1"/>
          <p:nvPr/>
        </p:nvSpPr>
        <p:spPr>
          <a:xfrm>
            <a:off x="117227" y="1762131"/>
            <a:ext cx="963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e.g.) </a:t>
            </a:r>
            <a:r>
              <a:rPr lang="en-US" dirty="0"/>
              <a:t>USGS 11377100				          e.g.) USGS 07339000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5" name="Picture 34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C17AFD57-A4D6-D36D-307A-1AC4E9141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7" y="2159670"/>
            <a:ext cx="3657917" cy="2286198"/>
          </a:xfrm>
          <a:prstGeom prst="rect">
            <a:avLst/>
          </a:prstGeom>
        </p:spPr>
      </p:pic>
      <p:pic>
        <p:nvPicPr>
          <p:cNvPr id="37" name="Picture 36" descr="A graph of blue bars&#10;&#10;AI-generated content may be incorrect.">
            <a:extLst>
              <a:ext uri="{FF2B5EF4-FFF2-40B4-BE49-F238E27FC236}">
                <a16:creationId xmlns:a16="http://schemas.microsoft.com/office/drawing/2014/main" id="{F0B4C3CA-92B4-A091-2B3B-867EF9047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7" y="4445868"/>
            <a:ext cx="3657917" cy="2286198"/>
          </a:xfrm>
          <a:prstGeom prst="rect">
            <a:avLst/>
          </a:prstGeom>
        </p:spPr>
      </p:pic>
      <p:pic>
        <p:nvPicPr>
          <p:cNvPr id="39" name="Picture 38" descr="A graph with blue and red lines&#10;&#10;AI-generated content may be incorrect.">
            <a:extLst>
              <a:ext uri="{FF2B5EF4-FFF2-40B4-BE49-F238E27FC236}">
                <a16:creationId xmlns:a16="http://schemas.microsoft.com/office/drawing/2014/main" id="{68866BF1-E2ED-614D-8FED-C1B6DA7D3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9670"/>
            <a:ext cx="3657917" cy="2286198"/>
          </a:xfrm>
          <a:prstGeom prst="rect">
            <a:avLst/>
          </a:prstGeom>
        </p:spPr>
      </p:pic>
      <p:pic>
        <p:nvPicPr>
          <p:cNvPr id="41" name="Picture 40" descr="A graph of blue bars&#10;&#10;AI-generated content may be incorrect.">
            <a:extLst>
              <a:ext uri="{FF2B5EF4-FFF2-40B4-BE49-F238E27FC236}">
                <a16:creationId xmlns:a16="http://schemas.microsoft.com/office/drawing/2014/main" id="{12D74673-B27F-2F17-A3D1-A4098D76F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814" y="4444605"/>
            <a:ext cx="3657917" cy="228619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4258B95-1549-C251-68D0-DEAF226A462C}"/>
              </a:ext>
            </a:extLst>
          </p:cNvPr>
          <p:cNvSpPr txBox="1"/>
          <p:nvPr/>
        </p:nvSpPr>
        <p:spPr>
          <a:xfrm>
            <a:off x="6803136" y="2523744"/>
            <a:ext cx="159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SS = 0.14</a:t>
            </a:r>
          </a:p>
          <a:p>
            <a:r>
              <a:rPr lang="en-US" sz="900" b="1" dirty="0" err="1">
                <a:solidFill>
                  <a:srgbClr val="FF0000"/>
                </a:solidFill>
              </a:rPr>
              <a:t>KS.test</a:t>
            </a:r>
            <a:r>
              <a:rPr lang="en-US" sz="900" b="1" dirty="0">
                <a:solidFill>
                  <a:srgbClr val="FF0000"/>
                </a:solidFill>
              </a:rPr>
              <a:t> (Uniform dist.): No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991715-B2BE-0193-D3D2-4048A6D8CF6D}"/>
              </a:ext>
            </a:extLst>
          </p:cNvPr>
          <p:cNvSpPr txBox="1"/>
          <p:nvPr/>
        </p:nvSpPr>
        <p:spPr>
          <a:xfrm>
            <a:off x="822960" y="2523744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SS = 0.53</a:t>
            </a:r>
          </a:p>
          <a:p>
            <a:r>
              <a:rPr lang="en-US" sz="900" b="1" dirty="0" err="1"/>
              <a:t>KS.test</a:t>
            </a:r>
            <a:r>
              <a:rPr lang="en-US" sz="900" b="1" dirty="0"/>
              <a:t> (Uniform dist.): 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E5C3D-0411-ECDD-4A4B-9193675FDD55}"/>
                  </a:ext>
                </a:extLst>
              </p:cNvPr>
              <p:cNvSpPr txBox="1"/>
              <p:nvPr/>
            </p:nvSpPr>
            <p:spPr>
              <a:xfrm>
                <a:off x="0" y="1252505"/>
                <a:ext cx="11357113" cy="466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Condition #2. Non-exceedance probability of observations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(KS test)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E5C3D-0411-ECDD-4A4B-9193675FD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52505"/>
                <a:ext cx="11357113" cy="466474"/>
              </a:xfrm>
              <a:prstGeom prst="rect">
                <a:avLst/>
              </a:prstGeom>
              <a:blipFill>
                <a:blip r:embed="rId6"/>
                <a:stretch>
                  <a:fillRect l="-429" b="-20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0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19D3-1EDA-926C-6C69-570C7FD3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F41CFFA-5B03-62FF-DDDC-4FB1B5B2BB0A}"/>
              </a:ext>
            </a:extLst>
          </p:cNvPr>
          <p:cNvSpPr/>
          <p:nvPr/>
        </p:nvSpPr>
        <p:spPr>
          <a:xfrm>
            <a:off x="0" y="0"/>
            <a:ext cx="12192000" cy="464172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E86309-DE41-B32A-E3CD-4F96E70D5501}"/>
              </a:ext>
            </a:extLst>
          </p:cNvPr>
          <p:cNvSpPr txBox="1"/>
          <p:nvPr/>
        </p:nvSpPr>
        <p:spPr>
          <a:xfrm>
            <a:off x="0" y="-4992"/>
            <a:ext cx="102370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III. Model evaluations</a:t>
            </a:r>
            <a:endParaRPr lang="ko-KR" altLang="en-US" sz="2400" b="1" dirty="0"/>
          </a:p>
        </p:txBody>
      </p:sp>
      <p:sp>
        <p:nvSpPr>
          <p:cNvPr id="16" name="직사각형 7">
            <a:extLst>
              <a:ext uri="{FF2B5EF4-FFF2-40B4-BE49-F238E27FC236}">
                <a16:creationId xmlns:a16="http://schemas.microsoft.com/office/drawing/2014/main" id="{99BFD577-8098-750A-4AE6-14E357C61F46}"/>
              </a:ext>
            </a:extLst>
          </p:cNvPr>
          <p:cNvSpPr/>
          <p:nvPr/>
        </p:nvSpPr>
        <p:spPr>
          <a:xfrm>
            <a:off x="0" y="457523"/>
            <a:ext cx="12192000" cy="4001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2000" dirty="0"/>
              <a:t>We finally select 5,720 </a:t>
            </a:r>
            <a:r>
              <a:rPr lang="en-US" altLang="ko-KR" sz="2000" dirty="0" err="1"/>
              <a:t>streamgauges</a:t>
            </a:r>
            <a:r>
              <a:rPr lang="en-US" altLang="ko-KR" sz="2000" dirty="0"/>
              <a:t> for further analyses.</a:t>
            </a:r>
          </a:p>
        </p:txBody>
      </p:sp>
      <p:sp>
        <p:nvSpPr>
          <p:cNvPr id="3" name="직사각형 7">
            <a:extLst>
              <a:ext uri="{FF2B5EF4-FFF2-40B4-BE49-F238E27FC236}">
                <a16:creationId xmlns:a16="http://schemas.microsoft.com/office/drawing/2014/main" id="{9FB9F25F-8E92-6097-50E1-84B84192F692}"/>
              </a:ext>
            </a:extLst>
          </p:cNvPr>
          <p:cNvSpPr/>
          <p:nvPr/>
        </p:nvSpPr>
        <p:spPr>
          <a:xfrm>
            <a:off x="0" y="857633"/>
            <a:ext cx="11961628" cy="467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Condition #1. Skill score &gt;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2AE2A2-736D-1D0F-B874-72B769CF6390}"/>
                  </a:ext>
                </a:extLst>
              </p:cNvPr>
              <p:cNvSpPr txBox="1"/>
              <p:nvPr/>
            </p:nvSpPr>
            <p:spPr>
              <a:xfrm>
                <a:off x="0" y="1252505"/>
                <a:ext cx="11357113" cy="466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Condition #2. Non-exceedance probability of observations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 (KS test)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78C893-B4F9-3D07-56E3-6289CB671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52505"/>
                <a:ext cx="11357113" cy="466474"/>
              </a:xfrm>
              <a:prstGeom prst="rect">
                <a:avLst/>
              </a:prstGeom>
              <a:blipFill>
                <a:blip r:embed="rId3"/>
                <a:stretch>
                  <a:fillRect l="-429" b="-20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map of the world&#10;&#10;AI-generated content may be incorrect.">
            <a:extLst>
              <a:ext uri="{FF2B5EF4-FFF2-40B4-BE49-F238E27FC236}">
                <a16:creationId xmlns:a16="http://schemas.microsoft.com/office/drawing/2014/main" id="{1E55CFF8-F565-9E94-C10D-2E3C0612D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9" y="1942774"/>
            <a:ext cx="8915407" cy="4457703"/>
          </a:xfrm>
          <a:prstGeom prst="rect">
            <a:avLst/>
          </a:prstGeom>
        </p:spPr>
      </p:pic>
      <p:pic>
        <p:nvPicPr>
          <p:cNvPr id="11" name="Picture 10" descr="A graph of colored bars&#10;&#10;AI-generated content may be incorrect.">
            <a:extLst>
              <a:ext uri="{FF2B5EF4-FFF2-40B4-BE49-F238E27FC236}">
                <a16:creationId xmlns:a16="http://schemas.microsoft.com/office/drawing/2014/main" id="{48265793-7564-B0AD-181F-4E95B51E9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243" y="2113851"/>
            <a:ext cx="2743206" cy="4572009"/>
          </a:xfrm>
          <a:prstGeom prst="rect">
            <a:avLst/>
          </a:prstGeom>
        </p:spPr>
      </p:pic>
      <p:pic>
        <p:nvPicPr>
          <p:cNvPr id="15" name="Picture 14" descr="A graph of a skill score&#10;&#10;AI-generated content may be incorrect.">
            <a:extLst>
              <a:ext uri="{FF2B5EF4-FFF2-40B4-BE49-F238E27FC236}">
                <a16:creationId xmlns:a16="http://schemas.microsoft.com/office/drawing/2014/main" id="{954DED93-2588-5FEC-7041-96EDC52C9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797" y="2113851"/>
            <a:ext cx="2743206" cy="4572009"/>
          </a:xfrm>
          <a:prstGeom prst="rect">
            <a:avLst/>
          </a:prstGeom>
        </p:spPr>
      </p:pic>
      <p:sp>
        <p:nvSpPr>
          <p:cNvPr id="6" name="직사각형 7">
            <a:extLst>
              <a:ext uri="{FF2B5EF4-FFF2-40B4-BE49-F238E27FC236}">
                <a16:creationId xmlns:a16="http://schemas.microsoft.com/office/drawing/2014/main" id="{E05C7F71-3659-4E0D-6C03-95D457DFE014}"/>
              </a:ext>
            </a:extLst>
          </p:cNvPr>
          <p:cNvSpPr/>
          <p:nvPr/>
        </p:nvSpPr>
        <p:spPr>
          <a:xfrm>
            <a:off x="10366408" y="6912"/>
            <a:ext cx="1793700" cy="257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prstClr val="black"/>
                </a:solidFill>
                <a:latin typeface="Calibri" panose="020F0502020204030204"/>
              </a:rPr>
              <a:t>FloodMagnitude_v1.4/04_Evaluation/</a:t>
            </a:r>
            <a:endParaRPr lang="en-US" altLang="ko-KR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049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7164</TotalTime>
  <Words>1380</Words>
  <Application>Microsoft Office PowerPoint</Application>
  <PresentationFormat>Widescreen</PresentationFormat>
  <Paragraphs>316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Hanbeen Kim</dc:creator>
  <cp:lastModifiedBy>Sarah Maebius</cp:lastModifiedBy>
  <cp:revision>83</cp:revision>
  <dcterms:created xsi:type="dcterms:W3CDTF">2025-06-09T19:32:18Z</dcterms:created>
  <dcterms:modified xsi:type="dcterms:W3CDTF">2025-07-17T14:59:39Z</dcterms:modified>
</cp:coreProperties>
</file>